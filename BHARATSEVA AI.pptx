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9144000" cy="16256000"/>
  <p:embeddedFontLst>
    <p:embeddedFont>
      <p:font typeface="Inter" panose="020B0604020202020204" charset="0"/>
      <p:regular r:id="rId13"/>
    </p:embeddedFont>
    <p:embeddedFont>
      <p:font typeface="Noto Sans Devanagari" panose="020B0502040204020203" pitchFamily="34" charset="0"/>
      <p:regular r:id="rId14"/>
    </p:embeddedFont>
    <p:embeddedFont>
      <p:font typeface="Noto Sans Telugu" panose="020B0604020202020204" charset="0"/>
      <p:regular r:id="rId15"/>
    </p:embeddedFont>
    <p:embeddedFont>
      <p:font typeface="Plus Jakarta Sans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45" y="3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2231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flip="none" rotWithShape="1">
          <a:gsLst>
            <a:gs pos="0">
              <a:srgbClr val="0A0E17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grid-v1"/>
          <p:cNvSpPr/>
          <p:nvPr/>
        </p:nvSpPr>
        <p:spPr>
          <a:xfrm>
            <a:off x="1016000" y="1168400"/>
            <a:ext cx="9144" cy="6477000"/>
          </a:xfrm>
          <a:prstGeom prst="line">
            <a:avLst/>
          </a:prstGeom>
          <a:ln w="12700">
            <a:solidFill>
              <a:srgbClr val="00F2FE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grid-v2"/>
          <p:cNvSpPr/>
          <p:nvPr/>
        </p:nvSpPr>
        <p:spPr>
          <a:xfrm>
            <a:off x="2159000" y="1168400"/>
            <a:ext cx="9144" cy="6477000"/>
          </a:xfrm>
          <a:prstGeom prst="line">
            <a:avLst/>
          </a:prstGeom>
          <a:ln w="12700">
            <a:solidFill>
              <a:srgbClr val="00F2FE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grid-v3"/>
          <p:cNvSpPr/>
          <p:nvPr/>
        </p:nvSpPr>
        <p:spPr>
          <a:xfrm>
            <a:off x="3302000" y="1168400"/>
            <a:ext cx="9144" cy="6477000"/>
          </a:xfrm>
          <a:prstGeom prst="line">
            <a:avLst/>
          </a:prstGeom>
          <a:ln w="12700">
            <a:solidFill>
              <a:srgbClr val="00F2FE">
                <a:alpha val="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grid-v4"/>
          <p:cNvSpPr/>
          <p:nvPr/>
        </p:nvSpPr>
        <p:spPr>
          <a:xfrm>
            <a:off x="12827000" y="1168400"/>
            <a:ext cx="9144" cy="6477000"/>
          </a:xfrm>
          <a:prstGeom prst="line">
            <a:avLst/>
          </a:prstGeom>
          <a:ln w="12700">
            <a:solidFill>
              <a:srgbClr val="FF9933">
                <a:alpha val="1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grid-v5"/>
          <p:cNvSpPr/>
          <p:nvPr/>
        </p:nvSpPr>
        <p:spPr>
          <a:xfrm>
            <a:off x="13970000" y="1168400"/>
            <a:ext cx="9144" cy="6477000"/>
          </a:xfrm>
          <a:prstGeom prst="line">
            <a:avLst/>
          </a:prstGeom>
          <a:ln w="12700">
            <a:solidFill>
              <a:srgbClr val="FF9933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grid-h1"/>
          <p:cNvSpPr/>
          <p:nvPr/>
        </p:nvSpPr>
        <p:spPr>
          <a:xfrm>
            <a:off x="1016000" y="1905000"/>
            <a:ext cx="14224000" cy="9144"/>
          </a:xfrm>
          <a:prstGeom prst="line">
            <a:avLst/>
          </a:prstGeom>
          <a:ln w="12700">
            <a:solidFill>
              <a:srgbClr val="00F2F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grid-h2"/>
          <p:cNvSpPr/>
          <p:nvPr/>
        </p:nvSpPr>
        <p:spPr>
          <a:xfrm>
            <a:off x="1016000" y="3302000"/>
            <a:ext cx="14224000" cy="9144"/>
          </a:xfrm>
          <a:prstGeom prst="line">
            <a:avLst/>
          </a:prstGeom>
          <a:ln w="12700">
            <a:solidFill>
              <a:srgbClr val="00F2FE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grid-h3"/>
          <p:cNvSpPr/>
          <p:nvPr/>
        </p:nvSpPr>
        <p:spPr>
          <a:xfrm>
            <a:off x="1016000" y="5969000"/>
            <a:ext cx="14224000" cy="9144"/>
          </a:xfrm>
          <a:prstGeom prst="line">
            <a:avLst/>
          </a:prstGeom>
          <a:ln w="12700">
            <a:solidFill>
              <a:srgbClr val="FF9933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left-hex"/>
          <p:cNvSpPr/>
          <p:nvPr/>
        </p:nvSpPr>
        <p:spPr>
          <a:xfrm rot="1800000">
            <a:off x="1524000" y="2159000"/>
            <a:ext cx="1752600" cy="1752600"/>
          </a:xfrm>
          <a:prstGeom prst="hexagon">
            <a:avLst/>
          </a:prstGeom>
          <a:solidFill>
            <a:srgbClr val="00F2FE">
              <a:alpha val="7000"/>
            </a:srgbClr>
          </a:solidFill>
          <a:ln w="12700">
            <a:solidFill>
              <a:srgbClr val="00F2FE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ight-hex"/>
          <p:cNvSpPr/>
          <p:nvPr/>
        </p:nvSpPr>
        <p:spPr>
          <a:xfrm rot="1800000">
            <a:off x="12763500" y="4699000"/>
            <a:ext cx="1778000" cy="1778000"/>
          </a:xfrm>
          <a:prstGeom prst="hexagon">
            <a:avLst/>
          </a:prstGeom>
          <a:solidFill>
            <a:srgbClr val="FF9933">
              <a:alpha val="7000"/>
            </a:srgbClr>
          </a:solidFill>
          <a:ln w="12700">
            <a:solidFill>
              <a:srgbClr val="FF9933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orbit-a"/>
          <p:cNvSpPr/>
          <p:nvPr/>
        </p:nvSpPr>
        <p:spPr>
          <a:xfrm>
            <a:off x="10642600" y="1346200"/>
            <a:ext cx="3683000" cy="3683000"/>
          </a:xfrm>
          <a:prstGeom prst="ellipse">
            <a:avLst/>
          </a:prstGeom>
          <a:ln w="25400">
            <a:solidFill>
              <a:srgbClr val="00F2FE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orbit-b"/>
          <p:cNvSpPr/>
          <p:nvPr/>
        </p:nvSpPr>
        <p:spPr>
          <a:xfrm>
            <a:off x="11201400" y="1905000"/>
            <a:ext cx="2565400" cy="2565400"/>
          </a:xfrm>
          <a:prstGeom prst="ellipse">
            <a:avLst/>
          </a:prstGeom>
          <a:ln w="12700">
            <a:solidFill>
              <a:srgbClr val="FF993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node-a"/>
          <p:cNvSpPr/>
          <p:nvPr/>
        </p:nvSpPr>
        <p:spPr>
          <a:xfrm>
            <a:off x="12319000" y="1549400"/>
            <a:ext cx="228600" cy="228600"/>
          </a:xfrm>
          <a:prstGeom prst="ellipse">
            <a:avLst/>
          </a:prstGeom>
          <a:solidFill>
            <a:srgbClr val="00F2FE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node-b"/>
          <p:cNvSpPr/>
          <p:nvPr/>
        </p:nvSpPr>
        <p:spPr>
          <a:xfrm>
            <a:off x="13843000" y="3327400"/>
            <a:ext cx="190500" cy="190500"/>
          </a:xfrm>
          <a:prstGeom prst="ellipse">
            <a:avLst/>
          </a:prstGeom>
          <a:solidFill>
            <a:srgbClr val="FF9933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node-c"/>
          <p:cNvSpPr/>
          <p:nvPr/>
        </p:nvSpPr>
        <p:spPr>
          <a:xfrm>
            <a:off x="11074400" y="4356100"/>
            <a:ext cx="152400" cy="152400"/>
          </a:xfrm>
          <a:prstGeom prst="ellipse">
            <a:avLst/>
          </a:prstGeom>
          <a:solidFill>
            <a:srgbClr val="00F2FE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node-d"/>
          <p:cNvSpPr/>
          <p:nvPr/>
        </p:nvSpPr>
        <p:spPr>
          <a:xfrm>
            <a:off x="13081000" y="5016500"/>
            <a:ext cx="127000" cy="127000"/>
          </a:xfrm>
          <a:prstGeom prst="ellipse">
            <a:avLst/>
          </a:prstGeom>
          <a:solidFill>
            <a:srgbClr val="FF9933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node-line1"/>
          <p:cNvSpPr/>
          <p:nvPr/>
        </p:nvSpPr>
        <p:spPr>
          <a:xfrm>
            <a:off x="12433300" y="1663700"/>
            <a:ext cx="1498600" cy="1752600"/>
          </a:xfrm>
          <a:prstGeom prst="line">
            <a:avLst/>
          </a:prstGeom>
          <a:ln w="25400">
            <a:solidFill>
              <a:srgbClr val="00F2FE">
                <a:alpha val="5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node-line2"/>
          <p:cNvSpPr/>
          <p:nvPr/>
        </p:nvSpPr>
        <p:spPr>
          <a:xfrm flipH="1">
            <a:off x="11912600" y="3429000"/>
            <a:ext cx="2032000" cy="1016000"/>
          </a:xfrm>
          <a:prstGeom prst="line">
            <a:avLst/>
          </a:prstGeom>
          <a:ln w="25400">
            <a:solidFill>
              <a:srgbClr val="FF9933">
                <a:alpha val="56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eyebrow"/>
          <p:cNvSpPr/>
          <p:nvPr/>
        </p:nvSpPr>
        <p:spPr>
          <a:xfrm>
            <a:off x="2413000" y="1993900"/>
            <a:ext cx="1143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NEXT-GEN AI-POWERED PUBLIC SERVICE DISCOVERY</a:t>
            </a:r>
            <a:endParaRPr lang="en-US" sz="1600" dirty="0"/>
          </a:p>
        </p:txBody>
      </p:sp>
      <p:sp>
        <p:nvSpPr>
          <p:cNvPr id="23" name="cover-title"/>
          <p:cNvSpPr/>
          <p:nvPr/>
        </p:nvSpPr>
        <p:spPr>
          <a:xfrm>
            <a:off x="1524000" y="2616200"/>
            <a:ext cx="13208000" cy="965200"/>
          </a:xfrm>
          <a:prstGeom prst="rect">
            <a:avLst/>
          </a:prstGeom>
          <a:noFill/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altLang="en-US" sz="68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BharathSeva</a:t>
            </a:r>
            <a:endParaRPr lang="en-US" sz="6800" dirty="0"/>
          </a:p>
        </p:txBody>
      </p:sp>
      <p:sp>
        <p:nvSpPr>
          <p:cNvPr id="24" name="cover-rule"/>
          <p:cNvSpPr/>
          <p:nvPr/>
        </p:nvSpPr>
        <p:spPr>
          <a:xfrm>
            <a:off x="4381500" y="3835400"/>
            <a:ext cx="749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1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Services, Made Simple for Every Indian</a:t>
            </a:r>
            <a:endParaRPr lang="en-US" sz="2100" dirty="0"/>
          </a:p>
        </p:txBody>
      </p:sp>
      <p:sp>
        <p:nvSpPr>
          <p:cNvPr id="25" name="cover-card"/>
          <p:cNvSpPr/>
          <p:nvPr/>
        </p:nvSpPr>
        <p:spPr>
          <a:xfrm>
            <a:off x="4470400" y="4800600"/>
            <a:ext cx="7315200" cy="1320800"/>
          </a:xfrm>
          <a:prstGeom prst="roundRect">
            <a:avLst>
              <a:gd name="adj" fmla="val 3846"/>
            </a:avLst>
          </a:prstGeom>
          <a:solidFill>
            <a:srgbClr val="1F2937">
              <a:alpha val="78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cover-spark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0" y="5207000"/>
            <a:ext cx="431800" cy="431800"/>
          </a:xfrm>
          <a:prstGeom prst="rect">
            <a:avLst/>
          </a:prstGeom>
        </p:spPr>
      </p:pic>
      <p:sp>
        <p:nvSpPr>
          <p:cNvPr id="27" name="cover-card-copy"/>
          <p:cNvSpPr/>
          <p:nvPr/>
        </p:nvSpPr>
        <p:spPr>
          <a:xfrm>
            <a:off x="5588000" y="5054600"/>
            <a:ext cx="5461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trusted digital bridge between citizens and verified public welfare.</a:t>
            </a:r>
            <a:endParaRPr lang="en-US" sz="1800" dirty="0"/>
          </a:p>
        </p:txBody>
      </p:sp>
      <p:sp>
        <p:nvSpPr>
          <p:cNvPr id="28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29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problem-kicker"/>
          <p:cNvSpPr/>
          <p:nvPr/>
        </p:nvSpPr>
        <p:spPr>
          <a:xfrm>
            <a:off x="609600" y="990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CITIZEN EXPERIENCE TODAY</a:t>
            </a:r>
            <a:endParaRPr lang="en-US" sz="1500" dirty="0"/>
          </a:p>
        </p:txBody>
      </p:sp>
      <p:sp>
        <p:nvSpPr>
          <p:cNvPr id="5" name="problem-title"/>
          <p:cNvSpPr/>
          <p:nvPr/>
        </p:nvSpPr>
        <p:spPr>
          <a:xfrm>
            <a:off x="609600" y="1397000"/>
            <a:ext cx="14224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Bureaucratic Maze Facing 1.4 Billion Indians</a:t>
            </a:r>
            <a:endParaRPr lang="en-US" sz="4200" dirty="0"/>
          </a:p>
        </p:txBody>
      </p:sp>
      <p:sp>
        <p:nvSpPr>
          <p:cNvPr id="6" name="problem-subtitle"/>
          <p:cNvSpPr/>
          <p:nvPr/>
        </p:nvSpPr>
        <p:spPr>
          <a:xfrm>
            <a:off x="609600" y="2349500"/>
            <a:ext cx="1092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welfare is abundant. Discoverability, confidence, and completion are not.</a:t>
            </a:r>
            <a:endParaRPr lang="en-US" sz="1800" dirty="0"/>
          </a:p>
        </p:txBody>
      </p:sp>
      <p:sp>
        <p:nvSpPr>
          <p:cNvPr id="7" name="card-one"/>
          <p:cNvSpPr/>
          <p:nvPr/>
        </p:nvSpPr>
        <p:spPr>
          <a:xfrm>
            <a:off x="609600" y="3276600"/>
            <a:ext cx="4495800" cy="3606800"/>
          </a:xfrm>
          <a:prstGeom prst="roundRect">
            <a:avLst>
              <a:gd name="adj" fmla="val 1408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374151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card-one-line"/>
          <p:cNvSpPr/>
          <p:nvPr/>
        </p:nvSpPr>
        <p:spPr>
          <a:xfrm>
            <a:off x="609600" y="3276600"/>
            <a:ext cx="4495800" cy="508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card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3683000"/>
            <a:ext cx="431800" cy="431800"/>
          </a:xfrm>
          <a:prstGeom prst="rect">
            <a:avLst/>
          </a:prstGeom>
        </p:spPr>
      </p:pic>
      <p:sp>
        <p:nvSpPr>
          <p:cNvPr id="10" name="card-one-stat"/>
          <p:cNvSpPr/>
          <p:nvPr/>
        </p:nvSpPr>
        <p:spPr>
          <a:xfrm>
            <a:off x="965200" y="436880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5,100+</a:t>
            </a:r>
            <a:endParaRPr lang="en-US" sz="3600" dirty="0"/>
          </a:p>
        </p:txBody>
      </p:sp>
      <p:sp>
        <p:nvSpPr>
          <p:cNvPr id="11" name="card-one-title"/>
          <p:cNvSpPr/>
          <p:nvPr/>
        </p:nvSpPr>
        <p:spPr>
          <a:xfrm>
            <a:off x="965200" y="5067300"/>
            <a:ext cx="353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Fragmented scheme landscape</a:t>
            </a:r>
            <a:endParaRPr lang="en-US" sz="2100" dirty="0"/>
          </a:p>
        </p:txBody>
      </p:sp>
      <p:sp>
        <p:nvSpPr>
          <p:cNvPr id="12" name="card-one-copy"/>
          <p:cNvSpPr/>
          <p:nvPr/>
        </p:nvSpPr>
        <p:spPr>
          <a:xfrm>
            <a:off x="965200" y="5588000"/>
            <a:ext cx="3505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and State/UT schemes live across multiple journeys, portals, and departments.</a:t>
            </a:r>
            <a:endParaRPr lang="en-US" sz="1800" dirty="0"/>
          </a:p>
        </p:txBody>
      </p:sp>
      <p:sp>
        <p:nvSpPr>
          <p:cNvPr id="13" name="card-two"/>
          <p:cNvSpPr/>
          <p:nvPr/>
        </p:nvSpPr>
        <p:spPr>
          <a:xfrm>
            <a:off x="5880100" y="3276600"/>
            <a:ext cx="4495800" cy="3606800"/>
          </a:xfrm>
          <a:prstGeom prst="roundRect">
            <a:avLst>
              <a:gd name="adj" fmla="val 1408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374151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card-two-line"/>
          <p:cNvSpPr/>
          <p:nvPr/>
        </p:nvSpPr>
        <p:spPr>
          <a:xfrm>
            <a:off x="5880100" y="3276600"/>
            <a:ext cx="4495800" cy="508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card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0" y="3683000"/>
            <a:ext cx="431800" cy="431800"/>
          </a:xfrm>
          <a:prstGeom prst="rect">
            <a:avLst/>
          </a:prstGeom>
        </p:spPr>
      </p:pic>
      <p:sp>
        <p:nvSpPr>
          <p:cNvPr id="16" name="card-two-stat"/>
          <p:cNvSpPr/>
          <p:nvPr/>
        </p:nvSpPr>
        <p:spPr>
          <a:xfrm>
            <a:off x="6235700" y="436880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60%+</a:t>
            </a:r>
            <a:endParaRPr lang="en-US" sz="3600" dirty="0"/>
          </a:p>
        </p:txBody>
      </p:sp>
      <p:sp>
        <p:nvSpPr>
          <p:cNvPr id="17" name="card-two-title"/>
          <p:cNvSpPr/>
          <p:nvPr/>
        </p:nvSpPr>
        <p:spPr>
          <a:xfrm>
            <a:off x="6235700" y="5067300"/>
            <a:ext cx="353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Eligibility gets lost in translation</a:t>
            </a:r>
            <a:endParaRPr lang="en-US" sz="2100" dirty="0"/>
          </a:p>
        </p:txBody>
      </p:sp>
      <p:sp>
        <p:nvSpPr>
          <p:cNvPr id="18" name="card-two-copy"/>
          <p:cNvSpPr/>
          <p:nvPr/>
        </p:nvSpPr>
        <p:spPr>
          <a:xfrm>
            <a:off x="6235700" y="5588000"/>
            <a:ext cx="3505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Language, dense criteria, and unfamiliar process steps can prevent qualified citizens from applying.</a:t>
            </a:r>
            <a:endParaRPr lang="en-US" sz="1800" dirty="0"/>
          </a:p>
        </p:txBody>
      </p:sp>
      <p:sp>
        <p:nvSpPr>
          <p:cNvPr id="19" name="card-three"/>
          <p:cNvSpPr/>
          <p:nvPr/>
        </p:nvSpPr>
        <p:spPr>
          <a:xfrm>
            <a:off x="11150600" y="3276600"/>
            <a:ext cx="4495800" cy="3606800"/>
          </a:xfrm>
          <a:prstGeom prst="roundRect">
            <a:avLst>
              <a:gd name="adj" fmla="val 1408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374151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card-three-line"/>
          <p:cNvSpPr/>
          <p:nvPr/>
        </p:nvSpPr>
        <p:spPr>
          <a:xfrm>
            <a:off x="11150600" y="3276600"/>
            <a:ext cx="4495800" cy="508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card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6200" y="3683000"/>
            <a:ext cx="431800" cy="431800"/>
          </a:xfrm>
          <a:prstGeom prst="rect">
            <a:avLst/>
          </a:prstGeom>
        </p:spPr>
      </p:pic>
      <p:sp>
        <p:nvSpPr>
          <p:cNvPr id="22" name="card-three-stat"/>
          <p:cNvSpPr/>
          <p:nvPr/>
        </p:nvSpPr>
        <p:spPr>
          <a:xfrm>
            <a:off x="11506200" y="4368800"/>
            <a:ext cx="3302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 RISK</a:t>
            </a:r>
            <a:endParaRPr lang="en-US" sz="3600" dirty="0"/>
          </a:p>
        </p:txBody>
      </p:sp>
      <p:sp>
        <p:nvSpPr>
          <p:cNvPr id="23" name="card-three-title"/>
          <p:cNvSpPr/>
          <p:nvPr/>
        </p:nvSpPr>
        <p:spPr>
          <a:xfrm>
            <a:off x="11506200" y="5067300"/>
            <a:ext cx="3530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Misinformation fills the gap</a:t>
            </a:r>
            <a:endParaRPr lang="en-US" sz="2100" dirty="0"/>
          </a:p>
        </p:txBody>
      </p:sp>
      <p:sp>
        <p:nvSpPr>
          <p:cNvPr id="24" name="card-three-copy"/>
          <p:cNvSpPr/>
          <p:nvPr/>
        </p:nvSpPr>
        <p:spPr>
          <a:xfrm>
            <a:off x="11506200" y="5588000"/>
            <a:ext cx="35052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Unofficial agents and opaque advice make a citizen’s next step harder to trust.</a:t>
            </a:r>
            <a:endParaRPr lang="en-US" sz="1800" dirty="0"/>
          </a:p>
        </p:txBody>
      </p:sp>
      <p:sp>
        <p:nvSpPr>
          <p:cNvPr id="25" name="problem-source"/>
          <p:cNvSpPr/>
          <p:nvPr/>
        </p:nvSpPr>
        <p:spPr>
          <a:xfrm>
            <a:off x="609600" y="7289800"/>
            <a:ext cx="133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Official myScheme homepage lists 5,100+ schemes. 60%+ is the hackathon challenge framing supplied for this pitch.</a:t>
            </a:r>
            <a:endParaRPr lang="en-US" sz="1400" dirty="0"/>
          </a:p>
        </p:txBody>
      </p:sp>
      <p:sp>
        <p:nvSpPr>
          <p:cNvPr id="26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27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1">
          <a:gsLst>
            <a:gs pos="0">
              <a:srgbClr val="0A0E17"/>
            </a:gs>
            <a:gs pos="100000">
              <a:srgbClr val="0D1B2A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olution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TRUSTED EXPERIENCE</a:t>
            </a:r>
            <a:endParaRPr lang="en-US" sz="1500" dirty="0"/>
          </a:p>
        </p:txBody>
      </p:sp>
      <p:sp>
        <p:nvSpPr>
          <p:cNvPr id="5" name="solution-title"/>
          <p:cNvSpPr/>
          <p:nvPr/>
        </p:nvSpPr>
        <p:spPr>
          <a:xfrm>
            <a:off x="609600" y="1397000"/>
            <a:ext cx="8255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Meet BharathSeva — Public Welfare Reimagined</a:t>
            </a:r>
            <a:endParaRPr lang="en-US" sz="4200" dirty="0"/>
          </a:p>
        </p:txBody>
      </p:sp>
      <p:sp>
        <p:nvSpPr>
          <p:cNvPr id="6" name="solution-subtitle"/>
          <p:cNvSpPr/>
          <p:nvPr/>
        </p:nvSpPr>
        <p:spPr>
          <a:xfrm>
            <a:off x="609600" y="25654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citizen-first intelligence layer that turns discovery into decisive action.</a:t>
            </a:r>
            <a:endParaRPr lang="en-US" sz="1800" dirty="0"/>
          </a:p>
        </p:txBody>
      </p:sp>
      <p:sp>
        <p:nvSpPr>
          <p:cNvPr id="7" name="solution-vline"/>
          <p:cNvSpPr/>
          <p:nvPr/>
        </p:nvSpPr>
        <p:spPr>
          <a:xfrm>
            <a:off x="8661400" y="1333500"/>
            <a:ext cx="9144" cy="5969000"/>
          </a:xfrm>
          <a:prstGeom prst="line">
            <a:avLst/>
          </a:prstGeom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solution-ui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530600"/>
            <a:ext cx="381000" cy="381000"/>
          </a:xfrm>
          <a:prstGeom prst="rect">
            <a:avLst/>
          </a:prstGeom>
        </p:spPr>
      </p:pic>
      <p:sp>
        <p:nvSpPr>
          <p:cNvPr id="9" name="solution-ui-title"/>
          <p:cNvSpPr/>
          <p:nvPr/>
        </p:nvSpPr>
        <p:spPr>
          <a:xfrm>
            <a:off x="1219200" y="3492500"/>
            <a:ext cx="615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3D interactive discovery</a:t>
            </a:r>
            <a:endParaRPr lang="en-US" sz="2200" dirty="0"/>
          </a:p>
        </p:txBody>
      </p:sp>
      <p:sp>
        <p:nvSpPr>
          <p:cNvPr id="10" name="solution-ui-copy"/>
          <p:cNvSpPr/>
          <p:nvPr/>
        </p:nvSpPr>
        <p:spPr>
          <a:xfrm>
            <a:off x="1219200" y="39624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Apple-grade visual exploration of public services through a living Digital India interface.</a:t>
            </a:r>
            <a:endParaRPr lang="en-US" sz="1800" dirty="0"/>
          </a:p>
        </p:txBody>
      </p:sp>
      <p:pic>
        <p:nvPicPr>
          <p:cNvPr id="11" name="solution-lang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016500"/>
            <a:ext cx="381000" cy="381000"/>
          </a:xfrm>
          <a:prstGeom prst="rect">
            <a:avLst/>
          </a:prstGeom>
        </p:spPr>
      </p:pic>
      <p:sp>
        <p:nvSpPr>
          <p:cNvPr id="12" name="solution-lang-title"/>
          <p:cNvSpPr/>
          <p:nvPr/>
        </p:nvSpPr>
        <p:spPr>
          <a:xfrm>
            <a:off x="1219200" y="4978400"/>
            <a:ext cx="615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Trilingual by design</a:t>
            </a:r>
            <a:endParaRPr lang="en-US" sz="2200" dirty="0"/>
          </a:p>
        </p:txBody>
      </p:sp>
      <p:sp>
        <p:nvSpPr>
          <p:cNvPr id="13" name="solution-lang-copy"/>
          <p:cNvSpPr/>
          <p:nvPr/>
        </p:nvSpPr>
        <p:spPr>
          <a:xfrm>
            <a:off x="1219200" y="54483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switching across English, हिंदी, and తెలుగు — without interrupting the journey.</a:t>
            </a:r>
            <a:endParaRPr lang="en-US" sz="1800" dirty="0"/>
          </a:p>
        </p:txBody>
      </p:sp>
      <p:pic>
        <p:nvPicPr>
          <p:cNvPr id="14" name="solution-ai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502400"/>
            <a:ext cx="381000" cy="381000"/>
          </a:xfrm>
          <a:prstGeom prst="rect">
            <a:avLst/>
          </a:prstGeom>
        </p:spPr>
      </p:pic>
      <p:sp>
        <p:nvSpPr>
          <p:cNvPr id="15" name="solution-ai-title"/>
          <p:cNvSpPr/>
          <p:nvPr/>
        </p:nvSpPr>
        <p:spPr>
          <a:xfrm>
            <a:off x="1219200" y="6464300"/>
            <a:ext cx="615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Grounded AI: Seva Mitra</a:t>
            </a:r>
            <a:endParaRPr lang="en-US" sz="2200" dirty="0"/>
          </a:p>
        </p:txBody>
      </p:sp>
      <p:sp>
        <p:nvSpPr>
          <p:cNvPr id="16" name="solution-ai-copy"/>
          <p:cNvSpPr/>
          <p:nvPr/>
        </p:nvSpPr>
        <p:spPr>
          <a:xfrm>
            <a:off x="1219200" y="69342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source links keep every response useful, transparent, and rooted in official information.</a:t>
            </a:r>
            <a:endParaRPr lang="en-US" sz="1800" dirty="0"/>
          </a:p>
        </p:txBody>
      </p:sp>
      <p:sp>
        <p:nvSpPr>
          <p:cNvPr id="17" name="device-shadow"/>
          <p:cNvSpPr/>
          <p:nvPr/>
        </p:nvSpPr>
        <p:spPr>
          <a:xfrm>
            <a:off x="10312400" y="2286000"/>
            <a:ext cx="3810000" cy="4978400"/>
          </a:xfrm>
          <a:prstGeom prst="roundRect">
            <a:avLst>
              <a:gd name="adj" fmla="val 8000"/>
            </a:avLst>
          </a:prstGeom>
          <a:solidFill>
            <a:srgbClr val="000000">
              <a:alpha val="33000"/>
            </a:srgbClr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device-frame"/>
          <p:cNvSpPr/>
          <p:nvPr/>
        </p:nvSpPr>
        <p:spPr>
          <a:xfrm>
            <a:off x="10160000" y="2108200"/>
            <a:ext cx="3810000" cy="4978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25400">
            <a:solidFill>
              <a:srgbClr val="00F2FE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device-screen"/>
          <p:cNvSpPr/>
          <p:nvPr/>
        </p:nvSpPr>
        <p:spPr>
          <a:xfrm>
            <a:off x="10388600" y="2413000"/>
            <a:ext cx="3352800" cy="4343400"/>
          </a:xfrm>
          <a:prstGeom prst="roundRect">
            <a:avLst>
              <a:gd name="adj" fmla="val 6061"/>
            </a:avLst>
          </a:prstGeom>
          <a:solidFill>
            <a:srgbClr val="0A0E1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device-notch"/>
          <p:cNvSpPr/>
          <p:nvPr/>
        </p:nvSpPr>
        <p:spPr>
          <a:xfrm>
            <a:off x="11366500" y="2286000"/>
            <a:ext cx="1397000" cy="15240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device-brand"/>
          <p:cNvSpPr/>
          <p:nvPr/>
        </p:nvSpPr>
        <p:spPr>
          <a:xfrm>
            <a:off x="10718800" y="2768600"/>
            <a:ext cx="266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500" dirty="0"/>
          </a:p>
        </p:txBody>
      </p:sp>
      <p:sp>
        <p:nvSpPr>
          <p:cNvPr id="22" name="device-q"/>
          <p:cNvSpPr/>
          <p:nvPr/>
        </p:nvSpPr>
        <p:spPr>
          <a:xfrm>
            <a:off x="10693400" y="3327400"/>
            <a:ext cx="2692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I apply for?</a:t>
            </a:r>
            <a:endParaRPr lang="en-US" sz="1800" dirty="0"/>
          </a:p>
        </p:txBody>
      </p:sp>
      <p:sp>
        <p:nvSpPr>
          <p:cNvPr id="23" name="device-field"/>
          <p:cNvSpPr/>
          <p:nvPr/>
        </p:nvSpPr>
        <p:spPr>
          <a:xfrm>
            <a:off x="10693400" y="4064000"/>
            <a:ext cx="2743200" cy="482600"/>
          </a:xfrm>
          <a:prstGeom prst="roundRect">
            <a:avLst>
              <a:gd name="adj" fmla="val 10526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device-field-copy"/>
          <p:cNvSpPr/>
          <p:nvPr/>
        </p:nvSpPr>
        <p:spPr>
          <a:xfrm>
            <a:off x="10871200" y="4178300"/>
            <a:ext cx="203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· income · need</a:t>
            </a:r>
            <a:endParaRPr lang="en-US" sz="1400" dirty="0"/>
          </a:p>
        </p:txBody>
      </p:sp>
      <p:sp>
        <p:nvSpPr>
          <p:cNvPr id="25" name="device-result"/>
          <p:cNvSpPr/>
          <p:nvPr/>
        </p:nvSpPr>
        <p:spPr>
          <a:xfrm>
            <a:off x="10693400" y="4800600"/>
            <a:ext cx="2743200" cy="1244600"/>
          </a:xfrm>
          <a:prstGeom prst="roundRect">
            <a:avLst>
              <a:gd name="adj" fmla="val 4082"/>
            </a:avLst>
          </a:prstGeom>
          <a:solidFill>
            <a:srgbClr val="00F2FE">
              <a:alpha val="8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device-result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6600" y="5041900"/>
            <a:ext cx="279400" cy="279400"/>
          </a:xfrm>
          <a:prstGeom prst="rect">
            <a:avLst/>
          </a:prstGeom>
        </p:spPr>
      </p:pic>
      <p:sp>
        <p:nvSpPr>
          <p:cNvPr id="27" name="device-result-title"/>
          <p:cNvSpPr/>
          <p:nvPr/>
        </p:nvSpPr>
        <p:spPr>
          <a:xfrm>
            <a:off x="11303000" y="4991100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match</a:t>
            </a:r>
            <a:endParaRPr lang="en-US" sz="1400" dirty="0"/>
          </a:p>
        </p:txBody>
      </p:sp>
      <p:sp>
        <p:nvSpPr>
          <p:cNvPr id="28" name="device-result-copy"/>
          <p:cNvSpPr/>
          <p:nvPr/>
        </p:nvSpPr>
        <p:spPr>
          <a:xfrm>
            <a:off x="10896600" y="5410200"/>
            <a:ext cx="20828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Scheme, eligibility, documents, official path.</a:t>
            </a:r>
            <a:endParaRPr lang="en-US" sz="1400" dirty="0"/>
          </a:p>
        </p:txBody>
      </p:sp>
      <p:sp>
        <p:nvSpPr>
          <p:cNvPr id="29" name="device-glow"/>
          <p:cNvSpPr/>
          <p:nvPr/>
        </p:nvSpPr>
        <p:spPr>
          <a:xfrm>
            <a:off x="12750800" y="1905000"/>
            <a:ext cx="1905000" cy="1905000"/>
          </a:xfrm>
          <a:prstGeom prst="ellipse">
            <a:avLst/>
          </a:prstGeom>
          <a:solidFill>
            <a:srgbClr val="FF9933">
              <a:alpha val="9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31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features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PRODUCT MODULES</a:t>
            </a:r>
            <a:endParaRPr lang="en-US" sz="1500" dirty="0"/>
          </a:p>
        </p:txBody>
      </p:sp>
      <p:sp>
        <p:nvSpPr>
          <p:cNvPr id="5" name="features-title"/>
          <p:cNvSpPr/>
          <p:nvPr/>
        </p:nvSpPr>
        <p:spPr>
          <a:xfrm>
            <a:off x="609600" y="1397000"/>
            <a:ext cx="1270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for Scale, Speed, and Inclusion</a:t>
            </a:r>
            <a:endParaRPr lang="en-US" sz="4200" dirty="0"/>
          </a:p>
        </p:txBody>
      </p:sp>
      <p:sp>
        <p:nvSpPr>
          <p:cNvPr id="6" name="features-subtitle"/>
          <p:cNvSpPr/>
          <p:nvPr/>
        </p:nvSpPr>
        <p:spPr>
          <a:xfrm>
            <a:off x="609600" y="2247900"/>
            <a:ext cx="11049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focused moments turn “Where do I start?” into “I know exactly what to do.”</a:t>
            </a:r>
            <a:endParaRPr lang="en-US" sz="1800" dirty="0"/>
          </a:p>
        </p:txBody>
      </p:sp>
      <p:sp>
        <p:nvSpPr>
          <p:cNvPr id="7" name="feature-one"/>
          <p:cNvSpPr/>
          <p:nvPr/>
        </p:nvSpPr>
        <p:spPr>
          <a:xfrm>
            <a:off x="609600" y="3276600"/>
            <a:ext cx="7086600" cy="2209800"/>
          </a:xfrm>
          <a:prstGeom prst="roundRect">
            <a:avLst>
              <a:gd name="adj" fmla="val 229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feature-one-num"/>
          <p:cNvSpPr/>
          <p:nvPr/>
        </p:nvSpPr>
        <p:spPr>
          <a:xfrm>
            <a:off x="965200" y="35687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feature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800" y="3530600"/>
            <a:ext cx="482600" cy="482600"/>
          </a:xfrm>
          <a:prstGeom prst="rect">
            <a:avLst/>
          </a:prstGeom>
        </p:spPr>
      </p:pic>
      <p:sp>
        <p:nvSpPr>
          <p:cNvPr id="10" name="feature-one-title"/>
          <p:cNvSpPr/>
          <p:nvPr/>
        </p:nvSpPr>
        <p:spPr>
          <a:xfrm>
            <a:off x="965200" y="4127500"/>
            <a:ext cx="444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Seva Mitra AI Assistant</a:t>
            </a:r>
            <a:endParaRPr lang="en-US" sz="2400" dirty="0"/>
          </a:p>
        </p:txBody>
      </p:sp>
      <p:sp>
        <p:nvSpPr>
          <p:cNvPr id="11" name="feature-one-copy"/>
          <p:cNvSpPr/>
          <p:nvPr/>
        </p:nvSpPr>
        <p:spPr>
          <a:xfrm>
            <a:off x="965200" y="4711700"/>
            <a:ext cx="525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Q&amp;A in native Indian languages, grounded in official sources.</a:t>
            </a:r>
            <a:endParaRPr lang="en-US" sz="1800" dirty="0"/>
          </a:p>
        </p:txBody>
      </p:sp>
      <p:sp>
        <p:nvSpPr>
          <p:cNvPr id="12" name="feature-two"/>
          <p:cNvSpPr/>
          <p:nvPr/>
        </p:nvSpPr>
        <p:spPr>
          <a:xfrm>
            <a:off x="8559800" y="3276600"/>
            <a:ext cx="7086600" cy="2209800"/>
          </a:xfrm>
          <a:prstGeom prst="roundRect">
            <a:avLst>
              <a:gd name="adj" fmla="val 229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FF9933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feature-two-num"/>
          <p:cNvSpPr/>
          <p:nvPr/>
        </p:nvSpPr>
        <p:spPr>
          <a:xfrm>
            <a:off x="8915400" y="35687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pic>
        <p:nvPicPr>
          <p:cNvPr id="14" name="feature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0" y="3530600"/>
            <a:ext cx="482600" cy="482600"/>
          </a:xfrm>
          <a:prstGeom prst="rect">
            <a:avLst/>
          </a:prstGeom>
        </p:spPr>
      </p:pic>
      <p:sp>
        <p:nvSpPr>
          <p:cNvPr id="15" name="feature-two-title"/>
          <p:cNvSpPr/>
          <p:nvPr/>
        </p:nvSpPr>
        <p:spPr>
          <a:xfrm>
            <a:off x="8915400" y="4127500"/>
            <a:ext cx="444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Dynamic Scheme Finder</a:t>
            </a:r>
            <a:endParaRPr lang="en-US" sz="2400" dirty="0"/>
          </a:p>
        </p:txBody>
      </p:sp>
      <p:sp>
        <p:nvSpPr>
          <p:cNvPr id="16" name="feature-two-copy"/>
          <p:cNvSpPr/>
          <p:nvPr/>
        </p:nvSpPr>
        <p:spPr>
          <a:xfrm>
            <a:off x="8915400" y="4711700"/>
            <a:ext cx="525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Multi-tag filters for state, domain, and income tier — in seconds.</a:t>
            </a:r>
            <a:endParaRPr lang="en-US" sz="1800" dirty="0"/>
          </a:p>
        </p:txBody>
      </p:sp>
      <p:sp>
        <p:nvSpPr>
          <p:cNvPr id="17" name="feature-three"/>
          <p:cNvSpPr/>
          <p:nvPr/>
        </p:nvSpPr>
        <p:spPr>
          <a:xfrm>
            <a:off x="609600" y="5918200"/>
            <a:ext cx="7086600" cy="2209800"/>
          </a:xfrm>
          <a:prstGeom prst="roundRect">
            <a:avLst>
              <a:gd name="adj" fmla="val 229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FF9933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feature-three-num"/>
          <p:cNvSpPr/>
          <p:nvPr/>
        </p:nvSpPr>
        <p:spPr>
          <a:xfrm>
            <a:off x="965200" y="62103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pic>
        <p:nvPicPr>
          <p:cNvPr id="19" name="feature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3800" y="6172200"/>
            <a:ext cx="482600" cy="482600"/>
          </a:xfrm>
          <a:prstGeom prst="rect">
            <a:avLst/>
          </a:prstGeom>
        </p:spPr>
      </p:pic>
      <p:sp>
        <p:nvSpPr>
          <p:cNvPr id="20" name="feature-three-title"/>
          <p:cNvSpPr/>
          <p:nvPr/>
        </p:nvSpPr>
        <p:spPr>
          <a:xfrm>
            <a:off x="965200" y="6769100"/>
            <a:ext cx="508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Personalized Discovery Wizard</a:t>
            </a:r>
            <a:endParaRPr lang="en-US" sz="2400" dirty="0"/>
          </a:p>
        </p:txBody>
      </p:sp>
      <p:sp>
        <p:nvSpPr>
          <p:cNvPr id="21" name="feature-three-copy"/>
          <p:cNvSpPr/>
          <p:nvPr/>
        </p:nvSpPr>
        <p:spPr>
          <a:xfrm>
            <a:off x="965200" y="7353300"/>
            <a:ext cx="525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60-second guided quiz matches people with relevant opportunities.</a:t>
            </a:r>
            <a:endParaRPr lang="en-US" sz="1800" dirty="0"/>
          </a:p>
        </p:txBody>
      </p:sp>
      <p:sp>
        <p:nvSpPr>
          <p:cNvPr id="22" name="feature-four"/>
          <p:cNvSpPr/>
          <p:nvPr/>
        </p:nvSpPr>
        <p:spPr>
          <a:xfrm>
            <a:off x="8559800" y="5918200"/>
            <a:ext cx="7086600" cy="2209800"/>
          </a:xfrm>
          <a:prstGeom prst="roundRect">
            <a:avLst>
              <a:gd name="adj" fmla="val 229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feature-four-num"/>
          <p:cNvSpPr/>
          <p:nvPr/>
        </p:nvSpPr>
        <p:spPr>
          <a:xfrm>
            <a:off x="8915400" y="6210300"/>
            <a:ext cx="88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pic>
        <p:nvPicPr>
          <p:cNvPr id="24" name="feature-four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00" y="6172200"/>
            <a:ext cx="482600" cy="482600"/>
          </a:xfrm>
          <a:prstGeom prst="rect">
            <a:avLst/>
          </a:prstGeom>
        </p:spPr>
      </p:pic>
      <p:sp>
        <p:nvSpPr>
          <p:cNvPr id="25" name="feature-four-title"/>
          <p:cNvSpPr/>
          <p:nvPr/>
        </p:nvSpPr>
        <p:spPr>
          <a:xfrm>
            <a:off x="8915400" y="6769100"/>
            <a:ext cx="520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4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Step-by-Step Application Guides</a:t>
            </a:r>
            <a:endParaRPr lang="en-US" sz="2400" dirty="0"/>
          </a:p>
        </p:txBody>
      </p:sp>
      <p:sp>
        <p:nvSpPr>
          <p:cNvPr id="26" name="feature-four-copy"/>
          <p:cNvSpPr/>
          <p:nvPr/>
        </p:nvSpPr>
        <p:spPr>
          <a:xfrm>
            <a:off x="8915400" y="7353300"/>
            <a:ext cx="5257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checklists and direct official-portal redirection at the right moment.</a:t>
            </a:r>
            <a:endParaRPr lang="en-US" sz="1800" dirty="0"/>
          </a:p>
        </p:txBody>
      </p:sp>
      <p:sp>
        <p:nvSpPr>
          <p:cNvPr id="27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28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1">
          <a:gsLst>
            <a:gs pos="0">
              <a:srgbClr val="0A0E17"/>
            </a:gs>
            <a:gs pos="100000">
              <a:srgbClr val="0E1726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ch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PRODUCT ARCHITECTURE</a:t>
            </a:r>
            <a:endParaRPr lang="en-US" sz="1500" dirty="0"/>
          </a:p>
        </p:txBody>
      </p:sp>
      <p:sp>
        <p:nvSpPr>
          <p:cNvPr id="5" name="tech-title"/>
          <p:cNvSpPr/>
          <p:nvPr/>
        </p:nvSpPr>
        <p:spPr>
          <a:xfrm>
            <a:off x="609600" y="1397000"/>
            <a:ext cx="1079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Cutting-Edge Engineering</a:t>
            </a:r>
            <a:endParaRPr lang="en-US" sz="4200" dirty="0"/>
          </a:p>
        </p:txBody>
      </p:sp>
      <p:sp>
        <p:nvSpPr>
          <p:cNvPr id="6" name="tech-subtitle"/>
          <p:cNvSpPr/>
          <p:nvPr/>
        </p:nvSpPr>
        <p:spPr>
          <a:xfrm>
            <a:off x="609600" y="2247900"/>
            <a:ext cx="1143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modern web experience built to keep answers fast, auditable, and accessible.</a:t>
            </a:r>
            <a:endParaRPr lang="en-US" sz="1800" dirty="0"/>
          </a:p>
        </p:txBody>
      </p:sp>
      <p:sp>
        <p:nvSpPr>
          <p:cNvPr id="7" name="arch-base-glow"/>
          <p:cNvSpPr/>
          <p:nvPr/>
        </p:nvSpPr>
        <p:spPr>
          <a:xfrm>
            <a:off x="3111500" y="3479800"/>
            <a:ext cx="7112000" cy="3810000"/>
          </a:xfrm>
          <a:prstGeom prst="ellipse">
            <a:avLst/>
          </a:prstGeom>
          <a:solidFill>
            <a:srgbClr val="00F2FE">
              <a:alpha val="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arch-layer-one"/>
          <p:cNvSpPr/>
          <p:nvPr/>
        </p:nvSpPr>
        <p:spPr>
          <a:xfrm>
            <a:off x="2032000" y="3175000"/>
            <a:ext cx="8509000" cy="1143000"/>
          </a:xfrm>
          <a:prstGeom prst="roundRect">
            <a:avLst>
              <a:gd name="adj" fmla="val 4444"/>
            </a:avLst>
          </a:prstGeom>
          <a:solidFill>
            <a:srgbClr val="1F2937">
              <a:alpha val="91000"/>
            </a:srgbClr>
          </a:solidFill>
          <a:ln w="12700">
            <a:solidFill>
              <a:srgbClr val="00F2FE">
                <a:alpha val="5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arch-layer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600" y="3505200"/>
            <a:ext cx="406400" cy="406400"/>
          </a:xfrm>
          <a:prstGeom prst="rect">
            <a:avLst/>
          </a:prstGeom>
        </p:spPr>
      </p:pic>
      <p:sp>
        <p:nvSpPr>
          <p:cNvPr id="10" name="arch-layer-one-title"/>
          <p:cNvSpPr/>
          <p:nvPr/>
        </p:nvSpPr>
        <p:spPr>
          <a:xfrm>
            <a:off x="3073400" y="3403600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Citizen Experience Layer</a:t>
            </a:r>
            <a:endParaRPr lang="en-US" sz="2200" dirty="0"/>
          </a:p>
        </p:txBody>
      </p:sp>
      <p:sp>
        <p:nvSpPr>
          <p:cNvPr id="11" name="arch-layer-one-copy"/>
          <p:cNvSpPr/>
          <p:nvPr/>
        </p:nvSpPr>
        <p:spPr>
          <a:xfrm>
            <a:off x="3073400" y="38354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· TypeScript · Tailwind CSS · Three.js / React Three Fiber</a:t>
            </a:r>
            <a:endParaRPr lang="en-US" sz="1800" dirty="0"/>
          </a:p>
        </p:txBody>
      </p:sp>
      <p:sp>
        <p:nvSpPr>
          <p:cNvPr id="12" name="arch-arrow-one"/>
          <p:cNvSpPr/>
          <p:nvPr/>
        </p:nvSpPr>
        <p:spPr>
          <a:xfrm>
            <a:off x="6286500" y="4318000"/>
            <a:ext cx="9144" cy="482600"/>
          </a:xfrm>
          <a:prstGeom prst="line">
            <a:avLst/>
          </a:prstGeom>
          <a:ln w="25400">
            <a:solidFill>
              <a:srgbClr val="00F2FE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3" name="arch-layer-two"/>
          <p:cNvSpPr/>
          <p:nvPr/>
        </p:nvSpPr>
        <p:spPr>
          <a:xfrm>
            <a:off x="2032000" y="4826000"/>
            <a:ext cx="8509000" cy="1143000"/>
          </a:xfrm>
          <a:prstGeom prst="roundRect">
            <a:avLst>
              <a:gd name="adj" fmla="val 4444"/>
            </a:avLst>
          </a:prstGeom>
          <a:solidFill>
            <a:srgbClr val="1F2937">
              <a:alpha val="91000"/>
            </a:srgbClr>
          </a:solidFill>
          <a:ln w="12700">
            <a:solidFill>
              <a:srgbClr val="FF9933">
                <a:alpha val="5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arch-layer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7600" y="5156200"/>
            <a:ext cx="406400" cy="406400"/>
          </a:xfrm>
          <a:prstGeom prst="rect">
            <a:avLst/>
          </a:prstGeom>
        </p:spPr>
      </p:pic>
      <p:sp>
        <p:nvSpPr>
          <p:cNvPr id="15" name="arch-layer-two-title"/>
          <p:cNvSpPr/>
          <p:nvPr/>
        </p:nvSpPr>
        <p:spPr>
          <a:xfrm>
            <a:off x="3073400" y="5054600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Secure AI Intelligence Layer</a:t>
            </a:r>
            <a:endParaRPr lang="en-US" sz="2200" dirty="0"/>
          </a:p>
        </p:txBody>
      </p:sp>
      <p:sp>
        <p:nvSpPr>
          <p:cNvPr id="16" name="arch-layer-two-copy"/>
          <p:cNvSpPr/>
          <p:nvPr/>
        </p:nvSpPr>
        <p:spPr>
          <a:xfrm>
            <a:off x="3073400" y="54864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API proxy · retrieval pipeline · policy-aware response orchestration</a:t>
            </a:r>
            <a:endParaRPr lang="en-US" sz="1800" dirty="0"/>
          </a:p>
        </p:txBody>
      </p:sp>
      <p:sp>
        <p:nvSpPr>
          <p:cNvPr id="17" name="arch-arrow-two"/>
          <p:cNvSpPr/>
          <p:nvPr/>
        </p:nvSpPr>
        <p:spPr>
          <a:xfrm>
            <a:off x="6286500" y="5969000"/>
            <a:ext cx="9144" cy="482600"/>
          </a:xfrm>
          <a:prstGeom prst="line">
            <a:avLst/>
          </a:prstGeom>
          <a:ln w="25400">
            <a:solidFill>
              <a:srgbClr val="FF993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8" name="arch-layer-three"/>
          <p:cNvSpPr/>
          <p:nvPr/>
        </p:nvSpPr>
        <p:spPr>
          <a:xfrm>
            <a:off x="2032000" y="6477000"/>
            <a:ext cx="8509000" cy="1143000"/>
          </a:xfrm>
          <a:prstGeom prst="roundRect">
            <a:avLst>
              <a:gd name="adj" fmla="val 4444"/>
            </a:avLst>
          </a:prstGeom>
          <a:solidFill>
            <a:srgbClr val="1F2937">
              <a:alpha val="91000"/>
            </a:srgbClr>
          </a:solidFill>
          <a:ln w="12700">
            <a:solidFill>
              <a:srgbClr val="00F2FE">
                <a:alpha val="5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arch-layer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7600" y="6807200"/>
            <a:ext cx="406400" cy="406400"/>
          </a:xfrm>
          <a:prstGeom prst="rect">
            <a:avLst/>
          </a:prstGeom>
        </p:spPr>
      </p:pic>
      <p:sp>
        <p:nvSpPr>
          <p:cNvPr id="20" name="arch-layer-three-title"/>
          <p:cNvSpPr/>
          <p:nvPr/>
        </p:nvSpPr>
        <p:spPr>
          <a:xfrm>
            <a:off x="3073400" y="6705600"/>
            <a:ext cx="457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Verified Source Layer</a:t>
            </a:r>
            <a:endParaRPr lang="en-US" sz="2200" dirty="0"/>
          </a:p>
        </p:txBody>
      </p:sp>
      <p:sp>
        <p:nvSpPr>
          <p:cNvPr id="21" name="arch-layer-three-copy"/>
          <p:cNvSpPr/>
          <p:nvPr/>
        </p:nvSpPr>
        <p:spPr>
          <a:xfrm>
            <a:off x="3073400" y="7137400"/>
            <a:ext cx="6731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document stores · PIB · India.gov.in · official application portals</a:t>
            </a:r>
            <a:endParaRPr lang="en-US" sz="1800" dirty="0"/>
          </a:p>
        </p:txBody>
      </p:sp>
      <p:sp>
        <p:nvSpPr>
          <p:cNvPr id="22" name="sidebar"/>
          <p:cNvSpPr/>
          <p:nvPr/>
        </p:nvSpPr>
        <p:spPr>
          <a:xfrm>
            <a:off x="11303000" y="3175000"/>
            <a:ext cx="4343400" cy="4445000"/>
          </a:xfrm>
          <a:prstGeom prst="roundRect">
            <a:avLst>
              <a:gd name="adj" fmla="val 1170"/>
            </a:avLst>
          </a:prstGeom>
          <a:solidFill>
            <a:srgbClr val="111827">
              <a:alpha val="85000"/>
            </a:srgbClr>
          </a:solidFill>
          <a:ln w="12700">
            <a:solidFill>
              <a:srgbClr val="374151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idebar-label"/>
          <p:cNvSpPr/>
          <p:nvPr/>
        </p:nvSpPr>
        <p:spPr>
          <a:xfrm>
            <a:off x="11684000" y="355600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GUARDRAILS</a:t>
            </a:r>
            <a:endParaRPr lang="en-US" sz="1500" dirty="0"/>
          </a:p>
        </p:txBody>
      </p:sp>
      <p:pic>
        <p:nvPicPr>
          <p:cNvPr id="24" name="side-lock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9400" y="4241800"/>
            <a:ext cx="330200" cy="330200"/>
          </a:xfrm>
          <a:prstGeom prst="rect">
            <a:avLst/>
          </a:prstGeom>
        </p:spPr>
      </p:pic>
      <p:sp>
        <p:nvSpPr>
          <p:cNvPr id="25" name="side-lock-copy"/>
          <p:cNvSpPr/>
          <p:nvPr/>
        </p:nvSpPr>
        <p:spPr>
          <a:xfrm>
            <a:off x="12268200" y="41910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backend proxy</a:t>
            </a:r>
            <a:endParaRPr lang="en-US" sz="1800" dirty="0"/>
          </a:p>
        </p:txBody>
      </p:sp>
      <p:pic>
        <p:nvPicPr>
          <p:cNvPr id="26" name="side-access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9400" y="5156200"/>
            <a:ext cx="330200" cy="330200"/>
          </a:xfrm>
          <a:prstGeom prst="rect">
            <a:avLst/>
          </a:prstGeom>
        </p:spPr>
      </p:pic>
      <p:sp>
        <p:nvSpPr>
          <p:cNvPr id="27" name="side-access-copy"/>
          <p:cNvSpPr/>
          <p:nvPr/>
        </p:nvSpPr>
        <p:spPr>
          <a:xfrm>
            <a:off x="12268200" y="51054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TTS + ARIA compliant</a:t>
            </a:r>
            <a:endParaRPr lang="en-US" sz="1800" dirty="0"/>
          </a:p>
        </p:txBody>
      </p:sp>
      <p:pic>
        <p:nvPicPr>
          <p:cNvPr id="28" name="side-mobil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9400" y="6070600"/>
            <a:ext cx="330200" cy="330200"/>
          </a:xfrm>
          <a:prstGeom prst="rect">
            <a:avLst/>
          </a:prstGeom>
        </p:spPr>
      </p:pic>
      <p:sp>
        <p:nvSpPr>
          <p:cNvPr id="29" name="side-mobile-copy"/>
          <p:cNvSpPr/>
          <p:nvPr/>
        </p:nvSpPr>
        <p:spPr>
          <a:xfrm>
            <a:off x="12268200" y="60198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mobile responsive</a:t>
            </a:r>
            <a:endParaRPr lang="en-US" sz="1800" dirty="0"/>
          </a:p>
        </p:txBody>
      </p:sp>
      <p:sp>
        <p:nvSpPr>
          <p:cNvPr id="30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31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access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TRILINGUAL &amp; CULTURAL ACCESSIBILITY ENGINE</a:t>
            </a:r>
            <a:endParaRPr lang="en-US" sz="1500" dirty="0"/>
          </a:p>
        </p:txBody>
      </p:sp>
      <p:sp>
        <p:nvSpPr>
          <p:cNvPr id="5" name="access-title"/>
          <p:cNvSpPr/>
          <p:nvPr/>
        </p:nvSpPr>
        <p:spPr>
          <a:xfrm>
            <a:off x="609600" y="1397000"/>
            <a:ext cx="1168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Breaking the Language Barrier Across India</a:t>
            </a:r>
            <a:endParaRPr lang="en-US" sz="4200" dirty="0"/>
          </a:p>
        </p:txBody>
      </p:sp>
      <p:sp>
        <p:nvSpPr>
          <p:cNvPr id="6" name="access-subtitle"/>
          <p:cNvSpPr/>
          <p:nvPr/>
        </p:nvSpPr>
        <p:spPr>
          <a:xfrm>
            <a:off x="609600" y="2247900"/>
            <a:ext cx="1181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citizen should be able to understand, explore, and act in a familiar language.</a:t>
            </a:r>
            <a:endParaRPr lang="en-US" sz="1800" dirty="0"/>
          </a:p>
        </p:txBody>
      </p:sp>
      <p:sp>
        <p:nvSpPr>
          <p:cNvPr id="7" name="language-panel"/>
          <p:cNvSpPr/>
          <p:nvPr/>
        </p:nvSpPr>
        <p:spPr>
          <a:xfrm>
            <a:off x="609600" y="3200400"/>
            <a:ext cx="7772400" cy="4419600"/>
          </a:xfrm>
          <a:prstGeom prst="roundRect">
            <a:avLst>
              <a:gd name="adj" fmla="val 114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language-panel-label"/>
          <p:cNvSpPr/>
          <p:nvPr/>
        </p:nvSpPr>
        <p:spPr>
          <a:xfrm>
            <a:off x="1041400" y="3556000"/>
            <a:ext cx="304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SINGLE, FLUID EXPERIENCE</a:t>
            </a:r>
            <a:endParaRPr lang="en-US" sz="1500" dirty="0"/>
          </a:p>
        </p:txBody>
      </p:sp>
      <p:sp>
        <p:nvSpPr>
          <p:cNvPr id="9" name="english-row"/>
          <p:cNvSpPr/>
          <p:nvPr/>
        </p:nvSpPr>
        <p:spPr>
          <a:xfrm>
            <a:off x="1041400" y="4140200"/>
            <a:ext cx="6908800" cy="812800"/>
          </a:xfrm>
          <a:prstGeom prst="roundRect">
            <a:avLst>
              <a:gd name="adj" fmla="val 4688"/>
            </a:avLst>
          </a:prstGeom>
          <a:solidFill>
            <a:srgbClr val="00F2FE">
              <a:alpha val="7000"/>
            </a:srgbClr>
          </a:solidFill>
          <a:ln w="12700">
            <a:solidFill>
              <a:srgbClr val="00F2FE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english-label"/>
          <p:cNvSpPr/>
          <p:nvPr/>
        </p:nvSpPr>
        <p:spPr>
          <a:xfrm>
            <a:off x="1371600" y="4368800"/>
            <a:ext cx="381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2200" dirty="0"/>
          </a:p>
        </p:txBody>
      </p:sp>
      <p:sp>
        <p:nvSpPr>
          <p:cNvPr id="11" name="english-role"/>
          <p:cNvSpPr/>
          <p:nvPr/>
        </p:nvSpPr>
        <p:spPr>
          <a:xfrm>
            <a:off x="5080000" y="4394200"/>
            <a:ext cx="246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Technocrats &amp; urban youth</a:t>
            </a:r>
            <a:endParaRPr lang="en-US" sz="1400" dirty="0"/>
          </a:p>
        </p:txBody>
      </p:sp>
      <p:sp>
        <p:nvSpPr>
          <p:cNvPr id="12" name="hindi-row"/>
          <p:cNvSpPr/>
          <p:nvPr/>
        </p:nvSpPr>
        <p:spPr>
          <a:xfrm>
            <a:off x="1041400" y="5181600"/>
            <a:ext cx="6908800" cy="812800"/>
          </a:xfrm>
          <a:prstGeom prst="roundRect">
            <a:avLst>
              <a:gd name="adj" fmla="val 4688"/>
            </a:avLst>
          </a:prstGeom>
          <a:solidFill>
            <a:srgbClr val="FF9933">
              <a:alpha val="7000"/>
            </a:srgbClr>
          </a:solidFill>
          <a:ln w="12700">
            <a:solidFill>
              <a:srgbClr val="FF9933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hindi-label"/>
          <p:cNvSpPr/>
          <p:nvPr/>
        </p:nvSpPr>
        <p:spPr>
          <a:xfrm>
            <a:off x="1371600" y="5372100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600" dirty="0">
                <a:solidFill>
                  <a:srgbClr val="F9FAFB"/>
                </a:solidFill>
                <a:latin typeface="Noto Sans Devanagari" pitchFamily="34" charset="0"/>
                <a:ea typeface="Noto Sans Devanagari" pitchFamily="34" charset="-122"/>
                <a:cs typeface="Noto Sans Devanagari" pitchFamily="34" charset="-120"/>
              </a:rPr>
              <a:t>हिंदी</a:t>
            </a:r>
            <a:endParaRPr lang="en-US" sz="2600" dirty="0"/>
          </a:p>
        </p:txBody>
      </p:sp>
      <p:sp>
        <p:nvSpPr>
          <p:cNvPr id="14" name="hindi-role"/>
          <p:cNvSpPr/>
          <p:nvPr/>
        </p:nvSpPr>
        <p:spPr>
          <a:xfrm>
            <a:off x="5080000" y="5435600"/>
            <a:ext cx="246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Devanagari rendering</a:t>
            </a:r>
            <a:endParaRPr lang="en-US" sz="1400" dirty="0"/>
          </a:p>
        </p:txBody>
      </p:sp>
      <p:sp>
        <p:nvSpPr>
          <p:cNvPr id="15" name="telugu-row"/>
          <p:cNvSpPr/>
          <p:nvPr/>
        </p:nvSpPr>
        <p:spPr>
          <a:xfrm>
            <a:off x="1041400" y="6223000"/>
            <a:ext cx="6908800" cy="812800"/>
          </a:xfrm>
          <a:prstGeom prst="roundRect">
            <a:avLst>
              <a:gd name="adj" fmla="val 4688"/>
            </a:avLst>
          </a:prstGeom>
          <a:solidFill>
            <a:srgbClr val="00F2FE">
              <a:alpha val="7000"/>
            </a:srgbClr>
          </a:solidFill>
          <a:ln w="12700">
            <a:solidFill>
              <a:srgbClr val="00F2FE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lugu-label"/>
          <p:cNvSpPr/>
          <p:nvPr/>
        </p:nvSpPr>
        <p:spPr>
          <a:xfrm>
            <a:off x="1371600" y="6413500"/>
            <a:ext cx="317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600" dirty="0">
                <a:solidFill>
                  <a:srgbClr val="F9FAFB"/>
                </a:solidFill>
                <a:latin typeface="Noto Sans Telugu" pitchFamily="34" charset="0"/>
                <a:ea typeface="Noto Sans Telugu" pitchFamily="34" charset="-122"/>
                <a:cs typeface="Noto Sans Telugu" pitchFamily="34" charset="-120"/>
              </a:rPr>
              <a:t>తెలుగు</a:t>
            </a:r>
            <a:endParaRPr lang="en-US" sz="2600" dirty="0"/>
          </a:p>
        </p:txBody>
      </p:sp>
      <p:sp>
        <p:nvSpPr>
          <p:cNvPr id="17" name="telugu-role"/>
          <p:cNvSpPr/>
          <p:nvPr/>
        </p:nvSpPr>
        <p:spPr>
          <a:xfrm>
            <a:off x="5080000" y="6477000"/>
            <a:ext cx="2463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Telugu typography</a:t>
            </a:r>
            <a:endParaRPr lang="en-US" sz="1400" dirty="0"/>
          </a:p>
        </p:txBody>
      </p:sp>
      <p:sp>
        <p:nvSpPr>
          <p:cNvPr id="18" name="translation-glow"/>
          <p:cNvSpPr/>
          <p:nvPr/>
        </p:nvSpPr>
        <p:spPr>
          <a:xfrm>
            <a:off x="10261600" y="3073400"/>
            <a:ext cx="4267200" cy="4267200"/>
          </a:xfrm>
          <a:prstGeom prst="ellipse">
            <a:avLst/>
          </a:prstGeom>
          <a:solidFill>
            <a:srgbClr val="00F2FE">
              <a:alpha val="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ranslation-card"/>
          <p:cNvSpPr/>
          <p:nvPr/>
        </p:nvSpPr>
        <p:spPr>
          <a:xfrm>
            <a:off x="9779000" y="3530600"/>
            <a:ext cx="5207000" cy="3632200"/>
          </a:xfrm>
          <a:prstGeom prst="roundRect">
            <a:avLst>
              <a:gd name="adj" fmla="val 1399"/>
            </a:avLst>
          </a:prstGeom>
          <a:solidFill>
            <a:srgbClr val="111827">
              <a:alpha val="91000"/>
            </a:srgbClr>
          </a:solidFill>
          <a:ln w="12700">
            <a:solidFill>
              <a:srgbClr val="FF9933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translation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200" y="4013200"/>
            <a:ext cx="457200" cy="457200"/>
          </a:xfrm>
          <a:prstGeom prst="rect">
            <a:avLst/>
          </a:prstGeom>
        </p:spPr>
      </p:pic>
      <p:sp>
        <p:nvSpPr>
          <p:cNvPr id="21" name="translation-badge"/>
          <p:cNvSpPr/>
          <p:nvPr/>
        </p:nvSpPr>
        <p:spPr>
          <a:xfrm>
            <a:off x="10947400" y="4000500"/>
            <a:ext cx="317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PAGE RELOADS</a:t>
            </a:r>
            <a:endParaRPr lang="en-US" sz="1600" dirty="0"/>
          </a:p>
        </p:txBody>
      </p:sp>
      <p:sp>
        <p:nvSpPr>
          <p:cNvPr id="22" name="translation-value"/>
          <p:cNvSpPr/>
          <p:nvPr/>
        </p:nvSpPr>
        <p:spPr>
          <a:xfrm>
            <a:off x="10236200" y="4762500"/>
            <a:ext cx="393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click.</a:t>
            </a:r>
            <a:endParaRPr lang="en-US" sz="3400" dirty="0"/>
          </a:p>
        </p:txBody>
      </p:sp>
      <p:sp>
        <p:nvSpPr>
          <p:cNvPr id="23" name="translation-line"/>
          <p:cNvSpPr/>
          <p:nvPr/>
        </p:nvSpPr>
        <p:spPr>
          <a:xfrm>
            <a:off x="10236200" y="5321300"/>
            <a:ext cx="393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3400" dirty="0">
                <a:solidFill>
                  <a:srgbClr val="00F2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Every context.</a:t>
            </a:r>
            <a:endParaRPr lang="en-US" sz="3400" dirty="0"/>
          </a:p>
        </p:txBody>
      </p:sp>
      <p:sp>
        <p:nvSpPr>
          <p:cNvPr id="24" name="translation-copy"/>
          <p:cNvSpPr/>
          <p:nvPr/>
        </p:nvSpPr>
        <p:spPr>
          <a:xfrm>
            <a:off x="10236200" y="6159500"/>
            <a:ext cx="406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state persists across forms, cards, and guided application steps.</a:t>
            </a:r>
            <a:endParaRPr lang="en-US" sz="1800" dirty="0"/>
          </a:p>
        </p:txBody>
      </p:sp>
      <p:sp>
        <p:nvSpPr>
          <p:cNvPr id="25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26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1">
          <a:gsLst>
            <a:gs pos="0">
              <a:srgbClr val="0A0E17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rust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TRUST, VERIFICATION &amp; SAFETY</a:t>
            </a:r>
            <a:endParaRPr lang="en-US" sz="1500" dirty="0"/>
          </a:p>
        </p:txBody>
      </p:sp>
      <p:sp>
        <p:nvSpPr>
          <p:cNvPr id="5" name="trust-title"/>
          <p:cNvSpPr/>
          <p:nvPr/>
        </p:nvSpPr>
        <p:spPr>
          <a:xfrm>
            <a:off x="609600" y="1397000"/>
            <a:ext cx="1079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Hallucination-Free Government Advice</a:t>
            </a:r>
            <a:endParaRPr lang="en-US" sz="4200" dirty="0"/>
          </a:p>
        </p:txBody>
      </p:sp>
      <p:sp>
        <p:nvSpPr>
          <p:cNvPr id="6" name="trust-subtitle"/>
          <p:cNvSpPr/>
          <p:nvPr/>
        </p:nvSpPr>
        <p:spPr>
          <a:xfrm>
            <a:off x="609600" y="2247900"/>
            <a:ext cx="1143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should never make a citizen trade certainty for convenience.</a:t>
            </a:r>
            <a:endParaRPr lang="en-US" sz="1800" dirty="0"/>
          </a:p>
        </p:txBody>
      </p:sp>
      <p:sp>
        <p:nvSpPr>
          <p:cNvPr id="7" name="trust-central-glow"/>
          <p:cNvSpPr/>
          <p:nvPr/>
        </p:nvSpPr>
        <p:spPr>
          <a:xfrm>
            <a:off x="6096000" y="3492500"/>
            <a:ext cx="4064000" cy="4064000"/>
          </a:xfrm>
          <a:prstGeom prst="ellipse">
            <a:avLst/>
          </a:prstGeom>
          <a:solidFill>
            <a:srgbClr val="00F2FE">
              <a:alpha val="7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rust-central"/>
          <p:cNvSpPr/>
          <p:nvPr/>
        </p:nvSpPr>
        <p:spPr>
          <a:xfrm>
            <a:off x="6858000" y="4165600"/>
            <a:ext cx="2540000" cy="2540000"/>
          </a:xfrm>
          <a:prstGeom prst="ellipse">
            <a:avLst/>
          </a:prstGeom>
          <a:solidFill>
            <a:srgbClr val="111827"/>
          </a:solidFill>
          <a:ln w="25400">
            <a:solidFill>
              <a:srgbClr val="00F2FE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trust-shiel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4521200"/>
            <a:ext cx="1016000" cy="1016000"/>
          </a:xfrm>
          <a:prstGeom prst="rect">
            <a:avLst/>
          </a:prstGeom>
        </p:spPr>
      </p:pic>
      <p:sp>
        <p:nvSpPr>
          <p:cNvPr id="10" name="trust-central-title"/>
          <p:cNvSpPr/>
          <p:nvPr/>
        </p:nvSpPr>
        <p:spPr>
          <a:xfrm>
            <a:off x="7175500" y="5765800"/>
            <a:ext cx="190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0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TRUSTED</a:t>
            </a:r>
            <a:endParaRPr lang="en-US" sz="2000" dirty="0"/>
          </a:p>
        </p:txBody>
      </p:sp>
      <p:sp>
        <p:nvSpPr>
          <p:cNvPr id="11" name="trust-central-copy"/>
          <p:cNvSpPr/>
          <p:nvPr/>
        </p:nvSpPr>
        <p:spPr>
          <a:xfrm>
            <a:off x="7086600" y="6146800"/>
            <a:ext cx="208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layer</a:t>
            </a:r>
            <a:endParaRPr lang="en-US" sz="1400" dirty="0"/>
          </a:p>
        </p:txBody>
      </p:sp>
      <p:sp>
        <p:nvSpPr>
          <p:cNvPr id="12" name="trust-line-left"/>
          <p:cNvSpPr/>
          <p:nvPr/>
        </p:nvSpPr>
        <p:spPr>
          <a:xfrm flipH="1" flipV="1">
            <a:off x="5397500" y="4229100"/>
            <a:ext cx="1460500" cy="1206500"/>
          </a:xfrm>
          <a:prstGeom prst="line">
            <a:avLst/>
          </a:prstGeom>
          <a:ln w="25400">
            <a:solidFill>
              <a:srgbClr val="00F2FE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rust-line-right"/>
          <p:cNvSpPr/>
          <p:nvPr/>
        </p:nvSpPr>
        <p:spPr>
          <a:xfrm flipV="1">
            <a:off x="9398000" y="4229100"/>
            <a:ext cx="1460500" cy="1206500"/>
          </a:xfrm>
          <a:prstGeom prst="line">
            <a:avLst/>
          </a:prstGeom>
          <a:ln w="25400">
            <a:solidFill>
              <a:srgbClr val="FF9933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rust-line-bottom"/>
          <p:cNvSpPr/>
          <p:nvPr/>
        </p:nvSpPr>
        <p:spPr>
          <a:xfrm>
            <a:off x="8128000" y="6705600"/>
            <a:ext cx="9144" cy="889000"/>
          </a:xfrm>
          <a:prstGeom prst="line">
            <a:avLst/>
          </a:prstGeom>
          <a:ln w="25400">
            <a:solidFill>
              <a:srgbClr val="00F2FE">
                <a:alpha val="53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rust-left-card"/>
          <p:cNvSpPr/>
          <p:nvPr/>
        </p:nvSpPr>
        <p:spPr>
          <a:xfrm>
            <a:off x="1041400" y="3352800"/>
            <a:ext cx="4216400" cy="2082800"/>
          </a:xfrm>
          <a:prstGeom prst="roundRect">
            <a:avLst>
              <a:gd name="adj" fmla="val 243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trust-left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3733800"/>
            <a:ext cx="406400" cy="406400"/>
          </a:xfrm>
          <a:prstGeom prst="rect">
            <a:avLst/>
          </a:prstGeom>
        </p:spPr>
      </p:pic>
      <p:sp>
        <p:nvSpPr>
          <p:cNvPr id="17" name="trust-left-title"/>
          <p:cNvSpPr/>
          <p:nvPr/>
        </p:nvSpPr>
        <p:spPr>
          <a:xfrm>
            <a:off x="1422400" y="4368800"/>
            <a:ext cx="317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Official verification badges</a:t>
            </a:r>
            <a:endParaRPr lang="en-US" sz="2100" dirty="0"/>
          </a:p>
        </p:txBody>
      </p:sp>
      <p:sp>
        <p:nvSpPr>
          <p:cNvPr id="18" name="trust-left-copy"/>
          <p:cNvSpPr/>
          <p:nvPr/>
        </p:nvSpPr>
        <p:spPr>
          <a:xfrm>
            <a:off x="1422400" y="4851400"/>
            <a:ext cx="309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verified schemes from third-party guides.</a:t>
            </a:r>
            <a:endParaRPr lang="en-US" sz="1800" dirty="0"/>
          </a:p>
        </p:txBody>
      </p:sp>
      <p:sp>
        <p:nvSpPr>
          <p:cNvPr id="19" name="trust-right-card"/>
          <p:cNvSpPr/>
          <p:nvPr/>
        </p:nvSpPr>
        <p:spPr>
          <a:xfrm>
            <a:off x="10998200" y="3352800"/>
            <a:ext cx="4216400" cy="2082800"/>
          </a:xfrm>
          <a:prstGeom prst="roundRect">
            <a:avLst>
              <a:gd name="adj" fmla="val 243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FF9933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0" name="trust-right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00" y="3733800"/>
            <a:ext cx="406400" cy="406400"/>
          </a:xfrm>
          <a:prstGeom prst="rect">
            <a:avLst/>
          </a:prstGeom>
        </p:spPr>
      </p:pic>
      <p:sp>
        <p:nvSpPr>
          <p:cNvPr id="21" name="trust-right-title"/>
          <p:cNvSpPr/>
          <p:nvPr/>
        </p:nvSpPr>
        <p:spPr>
          <a:xfrm>
            <a:off x="11379200" y="4368800"/>
            <a:ext cx="3175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Transparent citations</a:t>
            </a:r>
            <a:endParaRPr lang="en-US" sz="2100" dirty="0"/>
          </a:p>
        </p:txBody>
      </p:sp>
      <p:sp>
        <p:nvSpPr>
          <p:cNvPr id="22" name="trust-right-copy"/>
          <p:cNvSpPr/>
          <p:nvPr/>
        </p:nvSpPr>
        <p:spPr>
          <a:xfrm>
            <a:off x="11379200" y="4851400"/>
            <a:ext cx="3098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 directly to .gov.in and .nic.in source pages.</a:t>
            </a:r>
            <a:endParaRPr lang="en-US" sz="1800" dirty="0"/>
          </a:p>
        </p:txBody>
      </p:sp>
      <p:sp>
        <p:nvSpPr>
          <p:cNvPr id="23" name="trust-bottom-card"/>
          <p:cNvSpPr/>
          <p:nvPr/>
        </p:nvSpPr>
        <p:spPr>
          <a:xfrm>
            <a:off x="6019800" y="7620000"/>
            <a:ext cx="4216400" cy="787400"/>
          </a:xfrm>
          <a:prstGeom prst="roundRect">
            <a:avLst>
              <a:gd name="adj" fmla="val 6452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4" name="trust-bottom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7835900"/>
            <a:ext cx="304800" cy="304800"/>
          </a:xfrm>
          <a:prstGeom prst="rect">
            <a:avLst/>
          </a:prstGeom>
        </p:spPr>
      </p:pic>
      <p:sp>
        <p:nvSpPr>
          <p:cNvPr id="25" name="trust-bottom-title"/>
          <p:cNvSpPr/>
          <p:nvPr/>
        </p:nvSpPr>
        <p:spPr>
          <a:xfrm>
            <a:off x="6858000" y="7797800"/>
            <a:ext cx="287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Resilient fallback demo mode</a:t>
            </a:r>
            <a:endParaRPr lang="en-US" sz="1800" dirty="0"/>
          </a:p>
        </p:txBody>
      </p:sp>
      <p:sp>
        <p:nvSpPr>
          <p:cNvPr id="26" name="trust-bottom-copy"/>
          <p:cNvSpPr/>
          <p:nvPr/>
        </p:nvSpPr>
        <p:spPr>
          <a:xfrm>
            <a:off x="6858000" y="8115300"/>
            <a:ext cx="287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reliable experience, even during quota limits.</a:t>
            </a:r>
            <a:endParaRPr lang="en-US" sz="1400" dirty="0"/>
          </a:p>
        </p:txBody>
      </p:sp>
      <p:sp>
        <p:nvSpPr>
          <p:cNvPr id="27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28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impact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 &amp; SOCIAL IMPACT</a:t>
            </a:r>
            <a:endParaRPr lang="en-US" sz="1500" dirty="0"/>
          </a:p>
        </p:txBody>
      </p:sp>
      <p:sp>
        <p:nvSpPr>
          <p:cNvPr id="5" name="impact-title"/>
          <p:cNvSpPr/>
          <p:nvPr/>
        </p:nvSpPr>
        <p:spPr>
          <a:xfrm>
            <a:off x="609600" y="1397000"/>
            <a:ext cx="1092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Empowering Every Indian Segment</a:t>
            </a:r>
            <a:endParaRPr lang="en-US" sz="4200" dirty="0"/>
          </a:p>
        </p:txBody>
      </p:sp>
      <p:sp>
        <p:nvSpPr>
          <p:cNvPr id="6" name="impact-subtitle"/>
          <p:cNvSpPr/>
          <p:nvPr/>
        </p:nvSpPr>
        <p:spPr>
          <a:xfrm>
            <a:off x="609600" y="2247900"/>
            <a:ext cx="1079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access becomes human, public welfare can meet people where their lives actually happen.</a:t>
            </a:r>
            <a:endParaRPr lang="en-US" sz="1800" dirty="0"/>
          </a:p>
        </p:txBody>
      </p:sp>
      <p:sp>
        <p:nvSpPr>
          <p:cNvPr id="7" name="impact-target"/>
          <p:cNvSpPr/>
          <p:nvPr/>
        </p:nvSpPr>
        <p:spPr>
          <a:xfrm>
            <a:off x="12268200" y="1397000"/>
            <a:ext cx="3378200" cy="1066800"/>
          </a:xfrm>
          <a:prstGeom prst="roundRect">
            <a:avLst>
              <a:gd name="adj" fmla="val 4762"/>
            </a:avLst>
          </a:prstGeom>
          <a:solidFill>
            <a:srgbClr val="00F2FE">
              <a:alpha val="7000"/>
            </a:srgbClr>
          </a:solidFill>
          <a:ln w="12700">
            <a:solidFill>
              <a:srgbClr val="00F2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impact-target-num"/>
          <p:cNvSpPr/>
          <p:nvPr/>
        </p:nvSpPr>
        <p:spPr>
          <a:xfrm>
            <a:off x="12623800" y="15494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rgbClr val="00F2F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10×</a:t>
            </a:r>
            <a:endParaRPr lang="en-US" sz="3200" dirty="0"/>
          </a:p>
        </p:txBody>
      </p:sp>
      <p:sp>
        <p:nvSpPr>
          <p:cNvPr id="9" name="impact-target-copy"/>
          <p:cNvSpPr/>
          <p:nvPr/>
        </p:nvSpPr>
        <p:spPr>
          <a:xfrm>
            <a:off x="12573000" y="2032000"/>
            <a:ext cx="26924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application success rate</a:t>
            </a:r>
            <a:endParaRPr lang="en-US" sz="1400" dirty="0"/>
          </a:p>
        </p:txBody>
      </p:sp>
      <p:sp>
        <p:nvSpPr>
          <p:cNvPr id="10" name="persona-one"/>
          <p:cNvSpPr/>
          <p:nvPr/>
        </p:nvSpPr>
        <p:spPr>
          <a:xfrm>
            <a:off x="609600" y="3276600"/>
            <a:ext cx="3505200" cy="3759200"/>
          </a:xfrm>
          <a:prstGeom prst="roundRect">
            <a:avLst>
              <a:gd name="adj" fmla="val 144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1" name="persona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00" y="3657600"/>
            <a:ext cx="482600" cy="482600"/>
          </a:xfrm>
          <a:prstGeom prst="rect">
            <a:avLst/>
          </a:prstGeom>
        </p:spPr>
      </p:pic>
      <p:sp>
        <p:nvSpPr>
          <p:cNvPr id="12" name="persona-one-title"/>
          <p:cNvSpPr/>
          <p:nvPr/>
        </p:nvSpPr>
        <p:spPr>
          <a:xfrm>
            <a:off x="965200" y="4419600"/>
            <a:ext cx="261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&amp; Rural Youth</a:t>
            </a:r>
            <a:endParaRPr lang="en-US" sz="2200" dirty="0"/>
          </a:p>
        </p:txBody>
      </p:sp>
      <p:sp>
        <p:nvSpPr>
          <p:cNvPr id="13" name="persona-one-copy"/>
          <p:cNvSpPr/>
          <p:nvPr/>
        </p:nvSpPr>
        <p:spPr>
          <a:xfrm>
            <a:off x="965200" y="5308600"/>
            <a:ext cx="2616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discovery for livelihoods, support, and skills.</a:t>
            </a:r>
            <a:endParaRPr lang="en-US" sz="1800" dirty="0"/>
          </a:p>
        </p:txBody>
      </p:sp>
      <p:sp>
        <p:nvSpPr>
          <p:cNvPr id="14" name="persona-one-tags"/>
          <p:cNvSpPr/>
          <p:nvPr/>
        </p:nvSpPr>
        <p:spPr>
          <a:xfrm>
            <a:off x="965200" y="6362700"/>
            <a:ext cx="261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PM-Kisan · Skill India</a:t>
            </a:r>
            <a:endParaRPr lang="en-US" sz="1400" dirty="0"/>
          </a:p>
        </p:txBody>
      </p:sp>
      <p:sp>
        <p:nvSpPr>
          <p:cNvPr id="15" name="persona-two"/>
          <p:cNvSpPr/>
          <p:nvPr/>
        </p:nvSpPr>
        <p:spPr>
          <a:xfrm>
            <a:off x="4445000" y="3276600"/>
            <a:ext cx="3505200" cy="3759200"/>
          </a:xfrm>
          <a:prstGeom prst="roundRect">
            <a:avLst>
              <a:gd name="adj" fmla="val 144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FF9933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persona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657600"/>
            <a:ext cx="482600" cy="482600"/>
          </a:xfrm>
          <a:prstGeom prst="rect">
            <a:avLst/>
          </a:prstGeom>
        </p:spPr>
      </p:pic>
      <p:sp>
        <p:nvSpPr>
          <p:cNvPr id="17" name="persona-two-title"/>
          <p:cNvSpPr/>
          <p:nvPr/>
        </p:nvSpPr>
        <p:spPr>
          <a:xfrm>
            <a:off x="4800600" y="4419600"/>
            <a:ext cx="261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Women &amp; Entrepreneurs</a:t>
            </a:r>
            <a:endParaRPr lang="en-US" sz="2200" dirty="0"/>
          </a:p>
        </p:txBody>
      </p:sp>
      <p:sp>
        <p:nvSpPr>
          <p:cNvPr id="18" name="persona-two-copy"/>
          <p:cNvSpPr/>
          <p:nvPr/>
        </p:nvSpPr>
        <p:spPr>
          <a:xfrm>
            <a:off x="4800600" y="5308600"/>
            <a:ext cx="2616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Clarity for finance, growth, and entrepreneurship journeys.</a:t>
            </a:r>
            <a:endParaRPr lang="en-US" sz="1800" dirty="0"/>
          </a:p>
        </p:txBody>
      </p:sp>
      <p:sp>
        <p:nvSpPr>
          <p:cNvPr id="19" name="persona-two-tags"/>
          <p:cNvSpPr/>
          <p:nvPr/>
        </p:nvSpPr>
        <p:spPr>
          <a:xfrm>
            <a:off x="4800600" y="6362700"/>
            <a:ext cx="261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Stand-Up India · Mudra</a:t>
            </a:r>
            <a:endParaRPr lang="en-US" sz="1400" dirty="0"/>
          </a:p>
        </p:txBody>
      </p:sp>
      <p:sp>
        <p:nvSpPr>
          <p:cNvPr id="20" name="persona-three"/>
          <p:cNvSpPr/>
          <p:nvPr/>
        </p:nvSpPr>
        <p:spPr>
          <a:xfrm>
            <a:off x="8280400" y="3276600"/>
            <a:ext cx="3505200" cy="3759200"/>
          </a:xfrm>
          <a:prstGeom prst="roundRect">
            <a:avLst>
              <a:gd name="adj" fmla="val 144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00F2FE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1" name="persona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0" y="3657600"/>
            <a:ext cx="482600" cy="482600"/>
          </a:xfrm>
          <a:prstGeom prst="rect">
            <a:avLst/>
          </a:prstGeom>
        </p:spPr>
      </p:pic>
      <p:sp>
        <p:nvSpPr>
          <p:cNvPr id="22" name="persona-three-title"/>
          <p:cNvSpPr/>
          <p:nvPr/>
        </p:nvSpPr>
        <p:spPr>
          <a:xfrm>
            <a:off x="8636000" y="4419600"/>
            <a:ext cx="261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Students</a:t>
            </a:r>
            <a:endParaRPr lang="en-US" sz="2200" dirty="0"/>
          </a:p>
        </p:txBody>
      </p:sp>
      <p:sp>
        <p:nvSpPr>
          <p:cNvPr id="23" name="persona-three-copy"/>
          <p:cNvSpPr/>
          <p:nvPr/>
        </p:nvSpPr>
        <p:spPr>
          <a:xfrm>
            <a:off x="8636000" y="5308600"/>
            <a:ext cx="2616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confident path to scholarships, skills, and opportunity.</a:t>
            </a:r>
            <a:endParaRPr lang="en-US" sz="1800" dirty="0"/>
          </a:p>
        </p:txBody>
      </p:sp>
      <p:sp>
        <p:nvSpPr>
          <p:cNvPr id="24" name="persona-three-tags"/>
          <p:cNvSpPr/>
          <p:nvPr/>
        </p:nvSpPr>
        <p:spPr>
          <a:xfrm>
            <a:off x="8636000" y="6362700"/>
            <a:ext cx="261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Scholarships · Skills</a:t>
            </a:r>
            <a:endParaRPr lang="en-US" sz="1400" dirty="0"/>
          </a:p>
        </p:txBody>
      </p:sp>
      <p:sp>
        <p:nvSpPr>
          <p:cNvPr id="25" name="persona-four"/>
          <p:cNvSpPr/>
          <p:nvPr/>
        </p:nvSpPr>
        <p:spPr>
          <a:xfrm>
            <a:off x="12115800" y="3276600"/>
            <a:ext cx="3530600" cy="3759200"/>
          </a:xfrm>
          <a:prstGeom prst="roundRect">
            <a:avLst>
              <a:gd name="adj" fmla="val 1439"/>
            </a:avLst>
          </a:prstGeom>
          <a:solidFill>
            <a:srgbClr val="1F2937">
              <a:alpha val="85000"/>
            </a:srgbClr>
          </a:solidFill>
          <a:ln w="12700">
            <a:solidFill>
              <a:srgbClr val="FF9933">
                <a:alpha val="3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26" name="persona-four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1400" y="3657600"/>
            <a:ext cx="482600" cy="482600"/>
          </a:xfrm>
          <a:prstGeom prst="rect">
            <a:avLst/>
          </a:prstGeom>
        </p:spPr>
      </p:pic>
      <p:sp>
        <p:nvSpPr>
          <p:cNvPr id="27" name="persona-four-title"/>
          <p:cNvSpPr/>
          <p:nvPr/>
        </p:nvSpPr>
        <p:spPr>
          <a:xfrm>
            <a:off x="12471400" y="4419600"/>
            <a:ext cx="271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Senior Citizens</a:t>
            </a:r>
            <a:endParaRPr lang="en-US" sz="2200" dirty="0"/>
          </a:p>
        </p:txBody>
      </p:sp>
      <p:sp>
        <p:nvSpPr>
          <p:cNvPr id="28" name="persona-four-copy"/>
          <p:cNvSpPr/>
          <p:nvPr/>
        </p:nvSpPr>
        <p:spPr>
          <a:xfrm>
            <a:off x="12471400" y="5308600"/>
            <a:ext cx="2717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access to health protection and essential support.</a:t>
            </a:r>
            <a:endParaRPr lang="en-US" sz="1800" dirty="0"/>
          </a:p>
        </p:txBody>
      </p:sp>
      <p:sp>
        <p:nvSpPr>
          <p:cNvPr id="29" name="persona-four-tags"/>
          <p:cNvSpPr/>
          <p:nvPr/>
        </p:nvSpPr>
        <p:spPr>
          <a:xfrm>
            <a:off x="12471400" y="6362700"/>
            <a:ext cx="2717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Ayushman Bharat · Welfare</a:t>
            </a:r>
            <a:endParaRPr lang="en-US" sz="1400" dirty="0"/>
          </a:p>
        </p:txBody>
      </p:sp>
      <p:sp>
        <p:nvSpPr>
          <p:cNvPr id="30" name="impact-footnote"/>
          <p:cNvSpPr/>
          <p:nvPr/>
        </p:nvSpPr>
        <p:spPr>
          <a:xfrm>
            <a:off x="609600" y="7467600"/>
            <a:ext cx="1143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target: a 10× increase in successful citizen application journeys, validated through pilot outcomes.</a:t>
            </a:r>
            <a:endParaRPr lang="en-US" sz="1400" dirty="0"/>
          </a:p>
        </p:txBody>
      </p:sp>
      <p:sp>
        <p:nvSpPr>
          <p:cNvPr id="31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32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1">
          <a:gsLst>
            <a:gs pos="0">
              <a:srgbClr val="0A0E17"/>
            </a:gs>
            <a:gs pos="100000">
              <a:srgbClr val="0D19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roadmap-kicker"/>
          <p:cNvSpPr/>
          <p:nvPr/>
        </p:nvSpPr>
        <p:spPr>
          <a:xfrm>
            <a:off x="609600" y="9906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&amp; FUTURE EXPANSION</a:t>
            </a:r>
            <a:endParaRPr lang="en-US" sz="1500" dirty="0"/>
          </a:p>
        </p:txBody>
      </p:sp>
      <p:sp>
        <p:nvSpPr>
          <p:cNvPr id="5" name="roadmap-title"/>
          <p:cNvSpPr/>
          <p:nvPr/>
        </p:nvSpPr>
        <p:spPr>
          <a:xfrm>
            <a:off x="609600" y="1397000"/>
            <a:ext cx="990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42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What’s Next for BharathSeva</a:t>
            </a:r>
            <a:endParaRPr lang="en-US" sz="4200" dirty="0"/>
          </a:p>
        </p:txBody>
      </p:sp>
      <p:sp>
        <p:nvSpPr>
          <p:cNvPr id="6" name="roadmap-subtitle"/>
          <p:cNvSpPr/>
          <p:nvPr/>
        </p:nvSpPr>
        <p:spPr>
          <a:xfrm>
            <a:off x="609600" y="2247900"/>
            <a:ext cx="1181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disciplined path from trusted discovery today to frictionless service access tomorrow.</a:t>
            </a:r>
            <a:endParaRPr lang="en-US" sz="1800" dirty="0"/>
          </a:p>
        </p:txBody>
      </p:sp>
      <p:sp>
        <p:nvSpPr>
          <p:cNvPr id="7" name="timeline-glow"/>
          <p:cNvSpPr/>
          <p:nvPr/>
        </p:nvSpPr>
        <p:spPr>
          <a:xfrm>
            <a:off x="1524000" y="4343400"/>
            <a:ext cx="13208000" cy="50800"/>
          </a:xfrm>
          <a:prstGeom prst="rect">
            <a:avLst/>
          </a:prstGeom>
          <a:solidFill>
            <a:srgbClr val="00F2FE">
              <a:alpha val="21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imeline-one-line"/>
          <p:cNvSpPr/>
          <p:nvPr/>
        </p:nvSpPr>
        <p:spPr>
          <a:xfrm>
            <a:off x="1524000" y="4343400"/>
            <a:ext cx="4318000" cy="508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imeline-two-line"/>
          <p:cNvSpPr/>
          <p:nvPr/>
        </p:nvSpPr>
        <p:spPr>
          <a:xfrm>
            <a:off x="5842000" y="4343400"/>
            <a:ext cx="4318000" cy="508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imeline-three-line"/>
          <p:cNvSpPr/>
          <p:nvPr/>
        </p:nvSpPr>
        <p:spPr>
          <a:xfrm>
            <a:off x="10160000" y="4343400"/>
            <a:ext cx="4572000" cy="508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imeline-one-node"/>
          <p:cNvSpPr/>
          <p:nvPr/>
        </p:nvSpPr>
        <p:spPr>
          <a:xfrm>
            <a:off x="2997200" y="4038600"/>
            <a:ext cx="660400" cy="660400"/>
          </a:xfrm>
          <a:prstGeom prst="ellipse">
            <a:avLst/>
          </a:prstGeom>
          <a:solidFill>
            <a:srgbClr val="00F2FE"/>
          </a:solidFill>
          <a:ln w="76200">
            <a:solidFill>
              <a:srgbClr val="0A0E17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imeline-two-node"/>
          <p:cNvSpPr/>
          <p:nvPr/>
        </p:nvSpPr>
        <p:spPr>
          <a:xfrm>
            <a:off x="7797800" y="4038600"/>
            <a:ext cx="660400" cy="660400"/>
          </a:xfrm>
          <a:prstGeom prst="ellipse">
            <a:avLst/>
          </a:prstGeom>
          <a:solidFill>
            <a:srgbClr val="FF9933"/>
          </a:solidFill>
          <a:ln w="76200">
            <a:solidFill>
              <a:srgbClr val="0A0E17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imeline-three-node"/>
          <p:cNvSpPr/>
          <p:nvPr/>
        </p:nvSpPr>
        <p:spPr>
          <a:xfrm>
            <a:off x="12598400" y="4038600"/>
            <a:ext cx="660400" cy="660400"/>
          </a:xfrm>
          <a:prstGeom prst="ellipse">
            <a:avLst/>
          </a:prstGeom>
          <a:solidFill>
            <a:srgbClr val="00F2FE"/>
          </a:solidFill>
          <a:ln w="76200">
            <a:solidFill>
              <a:srgbClr val="0A0E17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phase-one-label"/>
          <p:cNvSpPr/>
          <p:nvPr/>
        </p:nvSpPr>
        <p:spPr>
          <a:xfrm>
            <a:off x="1524000" y="32766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01 · CURRENT</a:t>
            </a:r>
            <a:endParaRPr lang="en-US" sz="1500" dirty="0"/>
          </a:p>
        </p:txBody>
      </p:sp>
      <p:sp>
        <p:nvSpPr>
          <p:cNvPr id="15" name="phase-one-title"/>
          <p:cNvSpPr/>
          <p:nvPr/>
        </p:nvSpPr>
        <p:spPr>
          <a:xfrm>
            <a:off x="1524000" y="3657600"/>
            <a:ext cx="365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3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Discovery, decoded</a:t>
            </a:r>
            <a:endParaRPr lang="en-US" sz="2300" dirty="0"/>
          </a:p>
        </p:txBody>
      </p:sp>
      <p:sp>
        <p:nvSpPr>
          <p:cNvPr id="16" name="phase-one-copy"/>
          <p:cNvSpPr/>
          <p:nvPr/>
        </p:nvSpPr>
        <p:spPr>
          <a:xfrm>
            <a:off x="1524000" y="5041900"/>
            <a:ext cx="3657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Search, personalized discovery, and trilingual AI assistance.</a:t>
            </a:r>
            <a:endParaRPr lang="en-US" sz="1800" dirty="0"/>
          </a:p>
        </p:txBody>
      </p:sp>
      <p:sp>
        <p:nvSpPr>
          <p:cNvPr id="17" name="phase-one-card"/>
          <p:cNvSpPr/>
          <p:nvPr/>
        </p:nvSpPr>
        <p:spPr>
          <a:xfrm>
            <a:off x="1524000" y="6324600"/>
            <a:ext cx="3657600" cy="914400"/>
          </a:xfrm>
          <a:prstGeom prst="roundRect">
            <a:avLst>
              <a:gd name="adj" fmla="val 4167"/>
            </a:avLst>
          </a:prstGeom>
          <a:solidFill>
            <a:srgbClr val="00F2FE">
              <a:alpha val="7000"/>
            </a:srgbClr>
          </a:solidFill>
          <a:ln w="12700">
            <a:solidFill>
              <a:srgbClr val="00F2FE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phase-one-card-copy"/>
          <p:cNvSpPr/>
          <p:nvPr/>
        </p:nvSpPr>
        <p:spPr>
          <a:xfrm>
            <a:off x="1803400" y="6565900"/>
            <a:ext cx="309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first good decision feel effortless.</a:t>
            </a:r>
            <a:endParaRPr lang="en-US" sz="1400" dirty="0"/>
          </a:p>
        </p:txBody>
      </p:sp>
      <p:sp>
        <p:nvSpPr>
          <p:cNvPr id="19" name="phase-two-label"/>
          <p:cNvSpPr/>
          <p:nvPr/>
        </p:nvSpPr>
        <p:spPr>
          <a:xfrm>
            <a:off x="6299200" y="32766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99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02 · NEXT</a:t>
            </a:r>
            <a:endParaRPr lang="en-US" sz="1500" dirty="0"/>
          </a:p>
        </p:txBody>
      </p:sp>
      <p:sp>
        <p:nvSpPr>
          <p:cNvPr id="20" name="phase-two-title"/>
          <p:cNvSpPr/>
          <p:nvPr/>
        </p:nvSpPr>
        <p:spPr>
          <a:xfrm>
            <a:off x="6299200" y="3657600"/>
            <a:ext cx="365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3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Verification, automated</a:t>
            </a:r>
            <a:endParaRPr lang="en-US" sz="2300" dirty="0"/>
          </a:p>
        </p:txBody>
      </p:sp>
      <p:sp>
        <p:nvSpPr>
          <p:cNvPr id="21" name="phase-two-copy"/>
          <p:cNvSpPr/>
          <p:nvPr/>
        </p:nvSpPr>
        <p:spPr>
          <a:xfrm>
            <a:off x="6299200" y="5041900"/>
            <a:ext cx="3657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DigiLocker integration for streamlined document verification.</a:t>
            </a:r>
            <a:endParaRPr lang="en-US" sz="1800" dirty="0"/>
          </a:p>
        </p:txBody>
      </p:sp>
      <p:sp>
        <p:nvSpPr>
          <p:cNvPr id="22" name="phase-two-card"/>
          <p:cNvSpPr/>
          <p:nvPr/>
        </p:nvSpPr>
        <p:spPr>
          <a:xfrm>
            <a:off x="6299200" y="6324600"/>
            <a:ext cx="3657600" cy="914400"/>
          </a:xfrm>
          <a:prstGeom prst="roundRect">
            <a:avLst>
              <a:gd name="adj" fmla="val 4167"/>
            </a:avLst>
          </a:prstGeom>
          <a:solidFill>
            <a:srgbClr val="FF9933">
              <a:alpha val="7000"/>
            </a:srgbClr>
          </a:solidFill>
          <a:ln w="12700">
            <a:solidFill>
              <a:srgbClr val="FF9933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phase-two-card-copy"/>
          <p:cNvSpPr/>
          <p:nvPr/>
        </p:nvSpPr>
        <p:spPr>
          <a:xfrm>
            <a:off x="6578600" y="6565900"/>
            <a:ext cx="309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from guidance to confident completion.</a:t>
            </a:r>
            <a:endParaRPr lang="en-US" sz="1400" dirty="0"/>
          </a:p>
        </p:txBody>
      </p:sp>
      <p:sp>
        <p:nvSpPr>
          <p:cNvPr id="24" name="phase-three-label"/>
          <p:cNvSpPr/>
          <p:nvPr/>
        </p:nvSpPr>
        <p:spPr>
          <a:xfrm>
            <a:off x="11074400" y="3276600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03 · SCALE</a:t>
            </a:r>
            <a:endParaRPr lang="en-US" sz="1500" dirty="0"/>
          </a:p>
        </p:txBody>
      </p:sp>
      <p:sp>
        <p:nvSpPr>
          <p:cNvPr id="25" name="phase-three-title"/>
          <p:cNvSpPr/>
          <p:nvPr/>
        </p:nvSpPr>
        <p:spPr>
          <a:xfrm>
            <a:off x="11074400" y="3657600"/>
            <a:ext cx="3657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23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Voice-first India</a:t>
            </a:r>
            <a:endParaRPr lang="en-US" sz="2300" dirty="0"/>
          </a:p>
        </p:txBody>
      </p:sp>
      <p:sp>
        <p:nvSpPr>
          <p:cNvPr id="26" name="phase-three-copy"/>
          <p:cNvSpPr/>
          <p:nvPr/>
        </p:nvSpPr>
        <p:spPr>
          <a:xfrm>
            <a:off x="11074400" y="5041900"/>
            <a:ext cx="3657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voice assistance across 22 official Indian languages.</a:t>
            </a:r>
            <a:endParaRPr lang="en-US" sz="1800" dirty="0"/>
          </a:p>
        </p:txBody>
      </p:sp>
      <p:sp>
        <p:nvSpPr>
          <p:cNvPr id="27" name="phase-three-card"/>
          <p:cNvSpPr/>
          <p:nvPr/>
        </p:nvSpPr>
        <p:spPr>
          <a:xfrm>
            <a:off x="11074400" y="6324600"/>
            <a:ext cx="3657600" cy="914400"/>
          </a:xfrm>
          <a:prstGeom prst="roundRect">
            <a:avLst>
              <a:gd name="adj" fmla="val 4167"/>
            </a:avLst>
          </a:prstGeom>
          <a:solidFill>
            <a:srgbClr val="00F2FE">
              <a:alpha val="7000"/>
            </a:srgbClr>
          </a:solidFill>
          <a:ln w="12700">
            <a:solidFill>
              <a:srgbClr val="00F2FE">
                <a:alpha val="27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phase-three-card-copy"/>
          <p:cNvSpPr/>
          <p:nvPr/>
        </p:nvSpPr>
        <p:spPr>
          <a:xfrm>
            <a:off x="11353800" y="6565900"/>
            <a:ext cx="309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F9FA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the platform speak India’s language.</a:t>
            </a:r>
            <a:endParaRPr lang="en-US" sz="1400" dirty="0"/>
          </a:p>
        </p:txBody>
      </p:sp>
      <p:sp>
        <p:nvSpPr>
          <p:cNvPr id="29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30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1">
          <a:gsLst>
            <a:gs pos="0">
              <a:srgbClr val="0A0E17"/>
            </a:gs>
            <a:gs pos="100000">
              <a:srgbClr val="111827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teal"/>
          <p:cNvSpPr/>
          <p:nvPr/>
        </p:nvSpPr>
        <p:spPr>
          <a:xfrm>
            <a:off x="609600" y="533400"/>
            <a:ext cx="7874000" cy="25400"/>
          </a:xfrm>
          <a:prstGeom prst="rect">
            <a:avLst/>
          </a:prstGeom>
          <a:solidFill>
            <a:srgbClr val="00F2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op-saffron"/>
          <p:cNvSpPr/>
          <p:nvPr/>
        </p:nvSpPr>
        <p:spPr>
          <a:xfrm>
            <a:off x="8483600" y="533400"/>
            <a:ext cx="2794000" cy="25400"/>
          </a:xfrm>
          <a:prstGeom prst="rect">
            <a:avLst/>
          </a:prstGeom>
          <a:solidFill>
            <a:srgbClr val="FF99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grid-h1"/>
          <p:cNvSpPr/>
          <p:nvPr/>
        </p:nvSpPr>
        <p:spPr>
          <a:xfrm>
            <a:off x="1397000" y="2260600"/>
            <a:ext cx="13462000" cy="9144"/>
          </a:xfrm>
          <a:prstGeom prst="line">
            <a:avLst/>
          </a:prstGeom>
          <a:ln w="12700">
            <a:solidFill>
              <a:srgbClr val="00F2FE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grid-h2"/>
          <p:cNvSpPr/>
          <p:nvPr/>
        </p:nvSpPr>
        <p:spPr>
          <a:xfrm>
            <a:off x="1397000" y="6883400"/>
            <a:ext cx="13462000" cy="9144"/>
          </a:xfrm>
          <a:prstGeom prst="line">
            <a:avLst/>
          </a:prstGeom>
          <a:ln w="12700">
            <a:solidFill>
              <a:srgbClr val="FF9933">
                <a:alpha val="9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circle-one"/>
          <p:cNvSpPr/>
          <p:nvPr/>
        </p:nvSpPr>
        <p:spPr>
          <a:xfrm>
            <a:off x="2387600" y="1981200"/>
            <a:ext cx="2032000" cy="2032000"/>
          </a:xfrm>
          <a:prstGeom prst="ellipse">
            <a:avLst/>
          </a:prstGeom>
          <a:solidFill>
            <a:srgbClr val="00F2FE">
              <a:alpha val="5000"/>
            </a:srgbClr>
          </a:solidFill>
          <a:ln w="12700">
            <a:solidFill>
              <a:srgbClr val="00F2FE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circle-two"/>
          <p:cNvSpPr/>
          <p:nvPr/>
        </p:nvSpPr>
        <p:spPr>
          <a:xfrm>
            <a:off x="11912600" y="4775200"/>
            <a:ext cx="2032000" cy="2032000"/>
          </a:xfrm>
          <a:prstGeom prst="ellipse">
            <a:avLst/>
          </a:prstGeom>
          <a:solidFill>
            <a:srgbClr val="FF9933">
              <a:alpha val="5000"/>
            </a:srgbClr>
          </a:solidFill>
          <a:ln w="12700">
            <a:solidFill>
              <a:srgbClr val="FF9933">
                <a:alpha val="21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node-one"/>
          <p:cNvSpPr/>
          <p:nvPr/>
        </p:nvSpPr>
        <p:spPr>
          <a:xfrm>
            <a:off x="3606800" y="3200400"/>
            <a:ext cx="203200" cy="203200"/>
          </a:xfrm>
          <a:prstGeom prst="ellipse">
            <a:avLst/>
          </a:prstGeom>
          <a:solidFill>
            <a:srgbClr val="00F2FE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node-two"/>
          <p:cNvSpPr/>
          <p:nvPr/>
        </p:nvSpPr>
        <p:spPr>
          <a:xfrm>
            <a:off x="12801600" y="5537200"/>
            <a:ext cx="203200" cy="203200"/>
          </a:xfrm>
          <a:prstGeom prst="ellipse">
            <a:avLst/>
          </a:prstGeom>
          <a:solidFill>
            <a:srgbClr val="FF9933"/>
          </a:solidFill>
          <a:ln/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closing-kicker"/>
          <p:cNvSpPr/>
          <p:nvPr/>
        </p:nvSpPr>
        <p:spPr>
          <a:xfrm>
            <a:off x="2794000" y="2032000"/>
            <a:ext cx="1066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00F2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 — A HACKATHON-READY PUBLIC SERVICE PLATFORM</a:t>
            </a:r>
            <a:endParaRPr lang="en-US" sz="1600" dirty="0"/>
          </a:p>
        </p:txBody>
      </p:sp>
      <p:sp>
        <p:nvSpPr>
          <p:cNvPr id="11" name="closing-title"/>
          <p:cNvSpPr/>
          <p:nvPr/>
        </p:nvSpPr>
        <p:spPr>
          <a:xfrm>
            <a:off x="1524000" y="2768600"/>
            <a:ext cx="1320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4600" dirty="0">
                <a:solidFill>
                  <a:srgbClr val="F9FAF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Transforming Governance for 1.4 Billion Citizens</a:t>
            </a:r>
            <a:endParaRPr lang="en-US" sz="4600" dirty="0"/>
          </a:p>
        </p:txBody>
      </p:sp>
      <p:sp>
        <p:nvSpPr>
          <p:cNvPr id="12" name="closing-slogan"/>
          <p:cNvSpPr/>
          <p:nvPr/>
        </p:nvSpPr>
        <p:spPr>
          <a:xfrm>
            <a:off x="2032000" y="3886200"/>
            <a:ext cx="1219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3600" dirty="0">
                <a:solidFill>
                  <a:srgbClr val="FF993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Empowering Citizens. Simplifying India.</a:t>
            </a:r>
            <a:endParaRPr lang="en-US" sz="3600" dirty="0"/>
          </a:p>
        </p:txBody>
      </p:sp>
      <p:sp>
        <p:nvSpPr>
          <p:cNvPr id="13" name="cta-card"/>
          <p:cNvSpPr/>
          <p:nvPr/>
        </p:nvSpPr>
        <p:spPr>
          <a:xfrm>
            <a:off x="4851400" y="5181600"/>
            <a:ext cx="6553200" cy="1346200"/>
          </a:xfrm>
          <a:prstGeom prst="roundRect">
            <a:avLst>
              <a:gd name="adj" fmla="val 3774"/>
            </a:avLst>
          </a:prstGeom>
          <a:solidFill>
            <a:srgbClr val="1F2937">
              <a:alpha val="87000"/>
            </a:srgbClr>
          </a:solidFill>
          <a:ln w="12700">
            <a:solidFill>
              <a:srgbClr val="00F2FE">
                <a:alpha val="53000"/>
              </a:srgbClr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cta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588000"/>
            <a:ext cx="406400" cy="406400"/>
          </a:xfrm>
          <a:prstGeom prst="rect">
            <a:avLst/>
          </a:prstGeom>
        </p:spPr>
      </p:pic>
      <p:sp>
        <p:nvSpPr>
          <p:cNvPr id="15" name="cta-label"/>
          <p:cNvSpPr/>
          <p:nvPr/>
        </p:nvSpPr>
        <p:spPr>
          <a:xfrm>
            <a:off x="6019800" y="5435600"/>
            <a:ext cx="457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THE LIVE DEMO</a:t>
            </a:r>
            <a:endParaRPr lang="en-US" sz="1500" dirty="0"/>
          </a:p>
        </p:txBody>
      </p:sp>
      <p:sp>
        <p:nvSpPr>
          <p:cNvPr id="16" name="cta-url"/>
          <p:cNvSpPr/>
          <p:nvPr/>
        </p:nvSpPr>
        <p:spPr>
          <a:xfrm>
            <a:off x="6019800" y="58166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 err="1">
                <a:solidFill>
                  <a:schemeClr val="tx2">
                    <a:lumMod val="20000"/>
                    <a:lumOff val="80000"/>
                  </a:schemeClr>
                </a:solidFill>
              </a:rPr>
              <a:t>Bharatseva-ai.netlifu.app</a:t>
            </a:r>
            <a:endParaRPr lang="en-US" sz="24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" name="closing-contact"/>
          <p:cNvSpPr/>
          <p:nvPr/>
        </p:nvSpPr>
        <p:spPr>
          <a:xfrm>
            <a:off x="3606800" y="7094728"/>
            <a:ext cx="899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</a:rPr>
              <a:t>PRESENTED BY: FLY HIGH</a:t>
            </a: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" name="footer-brand"/>
          <p:cNvSpPr/>
          <p:nvPr/>
        </p:nvSpPr>
        <p:spPr>
          <a:xfrm>
            <a:off x="609600" y="86360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BharathSeva</a:t>
            </a:r>
            <a:endParaRPr lang="en-US" sz="1400" dirty="0"/>
          </a:p>
        </p:txBody>
      </p:sp>
      <p:sp>
        <p:nvSpPr>
          <p:cNvPr id="19" name="footer-page"/>
          <p:cNvSpPr/>
          <p:nvPr/>
        </p:nvSpPr>
        <p:spPr>
          <a:xfrm>
            <a:off x="14732000" y="8636000"/>
            <a:ext cx="91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altLang="en-US" sz="14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10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827</Words>
  <Application>Microsoft Office PowerPoint</Application>
  <PresentationFormat>Custom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Noto Sans Devanagari</vt:lpstr>
      <vt:lpstr>Plus Jakarta Sans</vt:lpstr>
      <vt:lpstr>Arial</vt:lpstr>
      <vt:lpstr>Inter</vt:lpstr>
      <vt:lpstr>Noto Sans Telugu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BharathSeva — Government Services, Made Simple for Every Indian</dc:title>
  <dc:subject>BharathSeva — Government Services, Made Simple for Every Indian</dc:subject>
  <dc:creator>Manus</dc:creator>
  <cp:lastModifiedBy>Danny Pal</cp:lastModifiedBy>
  <cp:revision>2</cp:revision>
  <dcterms:created xsi:type="dcterms:W3CDTF">2026-10-11T10:50:37Z</dcterms:created>
  <dcterms:modified xsi:type="dcterms:W3CDTF">2026-10-11T11:02:01Z</dcterms:modified>
</cp:coreProperties>
</file>